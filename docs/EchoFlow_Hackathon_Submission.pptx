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cb20f616-fb00-6837-ea55-dcc1d1f556b0}">
          <p14:sldIdLst>
            <p14:sldId id="256"/>
          </p14:sldIdLst>
        </p14:section>
        <p14:section name="Problem and solution" id="{d6b8cf3c-3197-d1ed-5136-e5a058db1a82}">
          <p14:sldIdLst>
            <p14:sldId id="257"/>
            <p14:sldId id="258"/>
          </p14:sldIdLst>
        </p14:section>
        <p14:section name="How it works" id="{f59c5c97-8a21-801f-a7ed-cf2b0c9ce7d5}">
          <p14:sldIdLst>
            <p14:sldId id="259"/>
            <p14:sldId id="260"/>
            <p14:sldId id="261"/>
          </p14:sldIdLst>
        </p14:section>
        <p14:section name="Impact and results" id="{6d79be53-fc52-fde3-84dd-fab4a5fb19d6}">
          <p14:sldIdLst>
            <p14:sldId id="262"/>
            <p14:sldId id="263"/>
          </p14:sldIdLst>
        </p14:section>
        <p14:section name="Next and wrap-up" id="{880ba9c3-6396-5d7b-d0e8-15102d8b7dfc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EchoFlow is our Theme 3 entry: you teach your phone a task once, by voice and by doing it, and after that you just ask — with the same words, different words, or different values. It never pays.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 in one line: teach once, reuse any way. The rules we built to: only Accessibility Service APIs, no app-specific code, no hard-coded flows, and a hand-off at every payment or credential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 work either learns but breaks or isn't safe, or is safe but can't learn. The gap is the combination: teach-once, generalise, stay local, never pay, and work on any app without integration.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lanes. Teaching records your taps and the screens they happened on, and compiles them into a lesson with slots. Running matches what you said to a lesson, decides whether to run, confirm, ask or offer to teach, and replays — every single action goes through SafetyGuard first. Gemini is optional and advisory.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frames from the submitted demo video, in the required order: teach, exact replay, paraphrase, changed value, and asking when stuck. Nothing here is mocked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that decides lives in a pure-Kotlin module with 203 unit tests; the Android layer is thin. AI is optional and only advises.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it helps: people who repeat the same phone chores, and people for whom tapping through apps is hard. It is safe by design and needs no account or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all fourteen official tests and the three bonus tests ran on a real Galaxy S24 FE with real apps, and EchoFlow never tapped Pay. We also publish our limitations — docs/LIMITATIONS.md — rather than claiming everything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on-device Gemini Nano so even paraphrase help stays private, and more apps validated. Then screens apps hide and form filling. Later: more domains and opt-in sync.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reasons EchoFlow stands out — most importantly, judges can teach it something new live, and it will never pay.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deliverable is on the public repository, linked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The APK, the source, the demo video and every test result are on the public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ISM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EchoFlow  ·  Samsung PRISM Generative AI Hackathon 2026–27  ·  Theme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ISM 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arsha31bs07-blip/echoflow-android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hyperlink" Target="https://github.com/harsha31bs07-blip/echoflow-android/releases/download/PRISM_GENAI_HACKATHON_Y2026/EchoFlow_Demo_v8.mp4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arsha31bs07-blip/echoflow-android" TargetMode="External"/><Relationship Id="rId4" Type="http://schemas.openxmlformats.org/officeDocument/2006/relationships/hyperlink" Target="https://github.com/harsha31bs07-blip/echoflow-android/blob/main/README.md" TargetMode="External"/><Relationship Id="rId6" Type="http://schemas.openxmlformats.org/officeDocument/2006/relationships/hyperlink" Target="https://github.com/harsha31bs07-blip/echoflow-android/releases/tag/PRISM_GENAI_HACKATHON_Y2026" TargetMode="External"/><Relationship Id="rId9" Type="http://schemas.openxmlformats.org/officeDocument/2006/relationships/hyperlink" Target="https://github.com/harsha31bs07-blip/echoflow-android/blob/main/release/EchoFlow.apk" TargetMode="External"/><Relationship Id="rId11" Type="http://schemas.openxmlformats.org/officeDocument/2006/relationships/hyperlink" Target="https://github.com/harsha31bs07-blip/echoflow-android/blob/main/docs/ARCHITECTURE.md" TargetMode="External"/><Relationship Id="rId13" Type="http://schemas.openxmlformats.org/officeDocument/2006/relationships/hyperlink" Target="https://github.com/harsha31bs07-blip/echoflow-android/blob/main/docs/TEST_RUN.md" TargetMode="External"/><Relationship Id="rId15" Type="http://schemas.openxmlformats.org/officeDocument/2006/relationships/hyperlink" Target="https://github.com/harsha31bs07-blip/echoflow-android/blob/main/docs/ARCHITECTURE.md" TargetMode="External"/><Relationship Id="rId17" Type="http://schemas.openxmlformats.org/officeDocument/2006/relationships/hyperlink" Target="https://github.com/harsha31bs07-blip/echoflow-android/blob/main/docs/LIMITATIONS.md" TargetMode="External"/><Relationship Id="rId19" Type="http://schemas.openxmlformats.org/officeDocument/2006/relationships/hyperlink" Target="https://github.com/harsha31bs07-blip/echoflow-android/blob/main/docs/SAFETY_FIXTURES.md" TargetMode="External"/><Relationship Id="rId21" Type="http://schemas.openxmlformats.org/officeDocument/2006/relationships/hyperlink" Target="https://github.com/harsha31bs07-blip/echoflow-android/blob/main/docs/TEST_MATRIX.md" TargetMode="External"/><Relationship Id="rId23" Type="http://schemas.openxmlformats.org/officeDocument/2006/relationships/hyperlink" Target="https://github.com/harsha31bs07-blip/echoflow-android/blob/main/docs/RESEARCH.md" TargetMode="External"/><Relationship Id="rId1" Type="http://schemas.openxmlformats.org/officeDocument/2006/relationships/image" Target="../media/image-11-1.png"/><Relationship Id="rId3" Type="http://schemas.openxmlformats.org/officeDocument/2006/relationships/image" Target="../media/image-11-2.png"/><Relationship Id="rId5" Type="http://schemas.openxmlformats.org/officeDocument/2006/relationships/image" Target="../media/image-11-3.png"/><Relationship Id="rId7" Type="http://schemas.openxmlformats.org/officeDocument/2006/relationships/image" Target="../media/image-11-4.png"/><Relationship Id="rId8" Type="http://schemas.openxmlformats.org/officeDocument/2006/relationships/image" Target="../media/image-11-5.png"/><Relationship Id="rId10" Type="http://schemas.openxmlformats.org/officeDocument/2006/relationships/image" Target="../media/image-11-6.png"/><Relationship Id="rId12" Type="http://schemas.openxmlformats.org/officeDocument/2006/relationships/image" Target="../media/image-11-7.png"/><Relationship Id="rId14" Type="http://schemas.openxmlformats.org/officeDocument/2006/relationships/image" Target="../media/image-11-8.png"/><Relationship Id="rId16" Type="http://schemas.openxmlformats.org/officeDocument/2006/relationships/image" Target="../media/image-11-9.png"/><Relationship Id="rId18" Type="http://schemas.openxmlformats.org/officeDocument/2006/relationships/image" Target="../media/image-11-10.png"/><Relationship Id="rId20" Type="http://schemas.openxmlformats.org/officeDocument/2006/relationships/image" Target="../media/image-11-11.png"/><Relationship Id="rId22" Type="http://schemas.openxmlformats.org/officeDocument/2006/relationships/image" Target="../media/image-11-12.png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arsha31bs07-blip/echoflow-android" TargetMode="Externa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msung PRISM pill"/>
          <p:cNvSpPr/>
          <p:nvPr/>
        </p:nvSpPr>
        <p:spPr>
          <a:xfrm>
            <a:off x="777240" y="521208"/>
            <a:ext cx="1828800" cy="31089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5212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SAMSUNG PRISM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00584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Generative AI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62763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Hackathon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3rd Edition</a:t>
            </a:r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    2026 – 27</a:t>
            </a:r>
            <a:endParaRPr lang="en-US" sz="1600" dirty="0"/>
          </a:p>
        </p:txBody>
      </p:sp>
      <p:pic>
        <p:nvPicPr>
          <p:cNvPr id="7" name="PRISM network art" descr="C:\Users\HARSHA B S\AppData\Local\Temp\claude\C--dev-echoflow-android\da9a8894-237a-4cfe-b4ec-86074de6fbd6\scratchpad\deck2\un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960120"/>
            <a:ext cx="4480560" cy="4480560"/>
          </a:xfrm>
          <a:prstGeom prst="rect">
            <a:avLst/>
          </a:prstGeom>
        </p:spPr>
      </p:pic>
      <p:sp>
        <p:nvSpPr>
          <p:cNvPr id="8" name="EchoFlow card"/>
          <p:cNvSpPr/>
          <p:nvPr/>
        </p:nvSpPr>
        <p:spPr>
          <a:xfrm>
            <a:off x="777240" y="2926080"/>
            <a:ext cx="598932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9" name="mic circle"/>
          <p:cNvSpPr/>
          <p:nvPr/>
        </p:nvSpPr>
        <p:spPr>
          <a:xfrm>
            <a:off x="1005840" y="320040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mic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786" y="3363346"/>
            <a:ext cx="277612" cy="2776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83080" y="30906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EchoFlow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1783080" y="354787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Teach your phone a task once, by voice and taps. Then just ask.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34340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</a:rPr>
              <a:t>Theme ID 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3 · Teachable Voice Automation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</a:rPr>
              <a:t>Team 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Cryzen  ·  Ramaiah Institute of Technology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</a:rPr>
              <a:t>Members 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Arush Parikh (1ms25ci021@msrit.edu)  ·  Harsha B S (1ms25ci051@msrit.edu)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Atharv Raj (1ms25ci025@msrit.edu)  ·  Harshil Jain (1ms25ci052@msrit.edu)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</a:rPr>
              <a:t>GitHub   </a:t>
            </a:r>
            <a:pPr indent="0" marL="0">
              <a:spcAft>
                <a:spcPts val="400"/>
              </a:spcAft>
              <a:buNone/>
            </a:pPr>
            <a:r>
              <a:rPr lang="en-US" sz="1150" u="sng" dirty="0">
                <a:solidFill>
                  <a:schemeClr val="accent5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github.com/harsha31bs07-blip/echoflow-android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Theme 3: Teachable Voice Automation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Teach a phone task once.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Ask again in any words, with any values.</a:t>
            </a:r>
            <a:endParaRPr lang="en-US" sz="2800" dirty="0"/>
          </a:p>
        </p:txBody>
      </p:sp>
      <p:sp>
        <p:nvSpPr>
          <p:cNvPr id="4" name="Teach by voice + taps card"/>
          <p:cNvSpPr/>
          <p:nvPr/>
        </p:nvSpPr>
        <p:spPr>
          <a:xfrm>
            <a:off x="548640" y="260604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5" name="mic circle"/>
          <p:cNvSpPr/>
          <p:nvPr/>
        </p:nvSpPr>
        <p:spPr>
          <a:xfrm>
            <a:off x="822960" y="2898648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mi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719" y="3076407"/>
            <a:ext cx="302849" cy="3028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703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Teach by voice + taps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14223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Say the task, then do it once in the real app. EchoFlow records the steps and turns the values you said into slots.</a:t>
            </a:r>
            <a:endParaRPr lang="en-US" sz="1400" dirty="0"/>
          </a:p>
        </p:txBody>
      </p:sp>
      <p:sp>
        <p:nvSpPr>
          <p:cNvPr id="9" name="Replay any way card"/>
          <p:cNvSpPr/>
          <p:nvPr/>
        </p:nvSpPr>
        <p:spPr>
          <a:xfrm>
            <a:off x="4297680" y="260604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0" name="words circle"/>
          <p:cNvSpPr/>
          <p:nvPr/>
        </p:nvSpPr>
        <p:spPr>
          <a:xfrm>
            <a:off x="4572000" y="289864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word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759" y="3076407"/>
            <a:ext cx="302849" cy="3028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3703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Replay any way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14223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The exact words, a paraphrase, or new values — another dish, a quantity of two, the Work address — run the same lesson.</a:t>
            </a:r>
            <a:endParaRPr lang="en-US" sz="1400" dirty="0"/>
          </a:p>
        </p:txBody>
      </p:sp>
      <p:sp>
        <p:nvSpPr>
          <p:cNvPr id="14" name="Never pays card"/>
          <p:cNvSpPr/>
          <p:nvPr/>
        </p:nvSpPr>
        <p:spPr>
          <a:xfrm>
            <a:off x="8046720" y="260604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5" name="shield circle"/>
          <p:cNvSpPr/>
          <p:nvPr/>
        </p:nvSpPr>
        <p:spPr>
          <a:xfrm>
            <a:off x="8321040" y="2898648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shiel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799" y="3076407"/>
            <a:ext cx="302849" cy="30284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37033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Never pays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4142232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It stops at every checkout, payment, OTP, password and login screen and says “Your turn.” Payment is always yours.</a:t>
            </a:r>
            <a:endParaRPr lang="en-US" sz="1400" dirty="0"/>
          </a:p>
        </p:txBody>
      </p:sp>
      <p:sp>
        <p:nvSpPr>
          <p:cNvPr id="19" name="rule chip"/>
          <p:cNvSpPr/>
          <p:nvPr/>
        </p:nvSpPr>
        <p:spPr>
          <a:xfrm>
            <a:off x="548640" y="5532120"/>
            <a:ext cx="2900477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548640" y="5532120"/>
            <a:ext cx="29004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Accessibility Service APIs only</a:t>
            </a:r>
            <a:endParaRPr lang="en-US" sz="1200" dirty="0"/>
          </a:p>
        </p:txBody>
      </p:sp>
      <p:sp>
        <p:nvSpPr>
          <p:cNvPr id="21" name="rule chip"/>
          <p:cNvSpPr/>
          <p:nvPr/>
        </p:nvSpPr>
        <p:spPr>
          <a:xfrm>
            <a:off x="3631997" y="5532120"/>
            <a:ext cx="2395728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3631997" y="5532120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No app SDKs or deep links</a:t>
            </a:r>
            <a:endParaRPr lang="en-US" sz="1200" dirty="0"/>
          </a:p>
        </p:txBody>
      </p:sp>
      <p:sp>
        <p:nvSpPr>
          <p:cNvPr id="23" name="rule chip"/>
          <p:cNvSpPr/>
          <p:nvPr/>
        </p:nvSpPr>
        <p:spPr>
          <a:xfrm>
            <a:off x="6210605" y="5532120"/>
            <a:ext cx="1890979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210605" y="5532120"/>
            <a:ext cx="18909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No hard-coded flows</a:t>
            </a:r>
            <a:endParaRPr lang="en-US" sz="1200" dirty="0"/>
          </a:p>
        </p:txBody>
      </p:sp>
      <p:sp>
        <p:nvSpPr>
          <p:cNvPr id="25" name="rule chip"/>
          <p:cNvSpPr/>
          <p:nvPr/>
        </p:nvSpPr>
        <p:spPr>
          <a:xfrm>
            <a:off x="8284464" y="5532120"/>
            <a:ext cx="1638605" cy="38404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284464" y="5532120"/>
            <a:ext cx="163860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No web fallbacks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Existing Solutions &amp; Gaps</a:t>
            </a:r>
            <a:endParaRPr lang="en-US" sz="3200" dirty="0"/>
          </a:p>
        </p:txBody>
      </p:sp>
      <p:sp>
        <p:nvSpPr>
          <p:cNvPr id="3" name="SUGILITE (CHI 2017) card"/>
          <p:cNvSpPr/>
          <p:nvPr/>
        </p:nvSpPr>
        <p:spPr>
          <a:xfrm>
            <a:off x="548640" y="1325880"/>
            <a:ext cx="324612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270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SUGILITE (CHI 2017)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4767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First programming-by-demonstration on Android. Recorded scripts rely on heuristics that break when the UI changes.</a:t>
            </a:r>
            <a:endParaRPr lang="en-US" sz="1300" dirty="0"/>
          </a:p>
        </p:txBody>
      </p:sp>
      <p:sp>
        <p:nvSpPr>
          <p:cNvPr id="6" name="SkillDroid (2026) card"/>
          <p:cNvSpPr/>
          <p:nvPr/>
        </p:nvSpPr>
        <p:spPr>
          <a:xfrm>
            <a:off x="3977640" y="1325880"/>
            <a:ext cx="324612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206240" y="15270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SkillDroid (2026)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194767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Replay-first and LLM-optional, strong on generalisation — but no payment/OTP safety layer validated on real apps.</a:t>
            </a:r>
            <a:endParaRPr lang="en-US" sz="1300" dirty="0"/>
          </a:p>
        </p:txBody>
      </p:sp>
      <p:sp>
        <p:nvSpPr>
          <p:cNvPr id="9" name="App shortcuts &amp; RPA card"/>
          <p:cNvSpPr/>
          <p:nvPr/>
        </p:nvSpPr>
        <p:spPr>
          <a:xfrm>
            <a:off x="548640" y="3246120"/>
            <a:ext cx="324612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44728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 shortcuts &amp; RPA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679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Need per-app integration, deep links or SDKs; fragile to every app update.</a:t>
            </a:r>
            <a:endParaRPr lang="en-US" sz="1300" dirty="0"/>
          </a:p>
        </p:txBody>
      </p:sp>
      <p:sp>
        <p:nvSpPr>
          <p:cNvPr id="12" name="Voice assistants card"/>
          <p:cNvSpPr/>
          <p:nvPr/>
        </p:nvSpPr>
        <p:spPr>
          <a:xfrm>
            <a:off x="3977640" y="3246120"/>
            <a:ext cx="324612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206240" y="344728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Voice assistants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38679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Bixby and Google Assistant handle declared intents; they cannot learn a new task from a demonstration.</a:t>
            </a:r>
            <a:endParaRPr lang="en-US" sz="1300" dirty="0"/>
          </a:p>
        </p:txBody>
      </p:sp>
      <p:sp>
        <p:nvSpPr>
          <p:cNvPr id="15" name="gap panel"/>
          <p:cNvSpPr/>
          <p:nvPr/>
        </p:nvSpPr>
        <p:spPr>
          <a:xfrm>
            <a:off x="7635240" y="1325880"/>
            <a:ext cx="4005072" cy="3657600"/>
          </a:xfrm>
          <a:prstGeom prst="roundRect">
            <a:avLst>
              <a:gd name="adj" fmla="val 3000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09560" y="1554480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No existing solution combines all five</a:t>
            </a:r>
            <a:endParaRPr lang="en-US" sz="1600" dirty="0"/>
          </a:p>
        </p:txBody>
      </p:sp>
      <p:sp>
        <p:nvSpPr>
          <p:cNvPr id="17" name="gap check"/>
          <p:cNvSpPr/>
          <p:nvPr/>
        </p:nvSpPr>
        <p:spPr>
          <a:xfrm>
            <a:off x="7909560" y="21031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gap che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194560"/>
            <a:ext cx="182880" cy="1828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412480" y="212140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Teach once from a live demonstration</a:t>
            </a:r>
            <a:endParaRPr lang="en-US" sz="1400" dirty="0"/>
          </a:p>
        </p:txBody>
      </p:sp>
      <p:sp>
        <p:nvSpPr>
          <p:cNvPr id="20" name="gap check"/>
          <p:cNvSpPr/>
          <p:nvPr/>
        </p:nvSpPr>
        <p:spPr>
          <a:xfrm>
            <a:off x="7909560" y="26517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gap check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43200"/>
            <a:ext cx="182880" cy="18288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412480" y="267004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Paraphrase + slot generalisation</a:t>
            </a:r>
            <a:endParaRPr lang="en-US" sz="1400" dirty="0"/>
          </a:p>
        </p:txBody>
      </p:sp>
      <p:sp>
        <p:nvSpPr>
          <p:cNvPr id="23" name="gap check"/>
          <p:cNvSpPr/>
          <p:nvPr/>
        </p:nvSpPr>
        <p:spPr>
          <a:xfrm>
            <a:off x="7909560" y="32004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gap check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182880" cy="18288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412480" y="321868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Runs locally on the phone</a:t>
            </a:r>
            <a:endParaRPr lang="en-US" sz="1400" dirty="0"/>
          </a:p>
        </p:txBody>
      </p:sp>
      <p:sp>
        <p:nvSpPr>
          <p:cNvPr id="26" name="gap check"/>
          <p:cNvSpPr/>
          <p:nvPr/>
        </p:nvSpPr>
        <p:spPr>
          <a:xfrm>
            <a:off x="7909560" y="37490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7" name="gap chec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840480"/>
            <a:ext cx="182880" cy="1828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412480" y="376732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Deterministic safety: never taps Pay</a:t>
            </a:r>
            <a:endParaRPr lang="en-US" sz="1400" dirty="0"/>
          </a:p>
        </p:txBody>
      </p:sp>
      <p:sp>
        <p:nvSpPr>
          <p:cNvPr id="29" name="gap check"/>
          <p:cNvSpPr/>
          <p:nvPr/>
        </p:nvSpPr>
        <p:spPr>
          <a:xfrm>
            <a:off x="7909560" y="42976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gap check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389120"/>
            <a:ext cx="182880" cy="18288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412480" y="4315968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Any app, no integration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548640" y="53492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EchoFlow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does all five, tested on a real phone with real apps.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Our Solution &amp; Architecture</a:t>
            </a:r>
            <a:endParaRPr lang="en-US" sz="3200" dirty="0"/>
          </a:p>
        </p:txBody>
      </p:sp>
      <p:sp>
        <p:nvSpPr>
          <p:cNvPr id="3" name="core boundary"/>
          <p:cNvSpPr/>
          <p:nvPr/>
        </p:nvSpPr>
        <p:spPr>
          <a:xfrm>
            <a:off x="2148840" y="1325880"/>
            <a:ext cx="6720840" cy="3931920"/>
          </a:xfrm>
          <a:prstGeom prst="roundRect">
            <a:avLst>
              <a:gd name="adj" fmla="val 2326"/>
            </a:avLst>
          </a:prstGeom>
          <a:solidFill>
            <a:schemeClr val="bg2"/>
          </a:solidFill>
          <a:ln w="12700">
            <a:solidFill>
              <a:srgbClr val="D9D3F0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233172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:core — pure Kotlin, 203 unit tests</a:t>
            </a:r>
            <a:endParaRPr lang="en-US" sz="1200" dirty="0"/>
          </a:p>
        </p:txBody>
      </p:sp>
      <p:sp>
        <p:nvSpPr>
          <p:cNvPr id="5" name="user circle"/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us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502" y="2047342"/>
            <a:ext cx="294437" cy="2944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25786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You: voice or taps</a:t>
            </a:r>
            <a:endParaRPr lang="en-US" sz="1100" dirty="0"/>
          </a:p>
        </p:txBody>
      </p:sp>
      <p:sp>
        <p:nvSpPr>
          <p:cNvPr id="8" name="Bubble box"/>
          <p:cNvSpPr/>
          <p:nvPr/>
        </p:nvSpPr>
        <p:spPr>
          <a:xfrm>
            <a:off x="548640" y="3246120"/>
            <a:ext cx="137160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9050">
            <a:solidFill>
              <a:srgbClr val="C8401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33192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Bubble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611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speech · typing · TTS</a:t>
            </a:r>
            <a:endParaRPr lang="en-US" sz="1050" dirty="0"/>
          </a:p>
        </p:txBody>
      </p:sp>
      <p:sp>
        <p:nvSpPr>
          <p:cNvPr id="11" name="you to bubble"/>
          <p:cNvSpPr/>
          <p:nvPr/>
        </p:nvSpPr>
        <p:spPr>
          <a:xfrm>
            <a:off x="1234440" y="2852928"/>
            <a:ext cx="0" cy="393192"/>
          </a:xfrm>
          <a:prstGeom prst="line">
            <a:avLst/>
          </a:prstGeom>
          <a:noFill/>
          <a:ln w="19050">
            <a:solidFill>
              <a:srgbClr val="63637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233172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TEACH</a:t>
            </a:r>
            <a:endParaRPr lang="en-US" sz="1100" dirty="0"/>
          </a:p>
        </p:txBody>
      </p:sp>
      <p:sp>
        <p:nvSpPr>
          <p:cNvPr id="13" name="recorder"/>
          <p:cNvSpPr/>
          <p:nvPr/>
        </p:nvSpPr>
        <p:spPr>
          <a:xfrm>
            <a:off x="2377440" y="2103120"/>
            <a:ext cx="192024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68880" y="217627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TeachingRecorder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468880" y="2468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taps + screens</a:t>
            </a:r>
            <a:endParaRPr lang="en-US" sz="1050" dirty="0"/>
          </a:p>
        </p:txBody>
      </p:sp>
      <p:sp>
        <p:nvSpPr>
          <p:cNvPr id="16" name="compiler"/>
          <p:cNvSpPr/>
          <p:nvPr/>
        </p:nvSpPr>
        <p:spPr>
          <a:xfrm>
            <a:off x="4572000" y="2103120"/>
            <a:ext cx="173736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63440" y="217627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FlowCompiler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2468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steps → slots</a:t>
            </a:r>
            <a:endParaRPr lang="en-US" sz="1050" dirty="0"/>
          </a:p>
        </p:txBody>
      </p:sp>
      <p:sp>
        <p:nvSpPr>
          <p:cNvPr id="19" name="store"/>
          <p:cNvSpPr/>
          <p:nvPr/>
        </p:nvSpPr>
        <p:spPr>
          <a:xfrm>
            <a:off x="6583680" y="210312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75120" y="21762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Saved lesson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6751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flow JSON</a:t>
            </a:r>
            <a:endParaRPr lang="en-US" sz="1050" dirty="0"/>
          </a:p>
        </p:txBody>
      </p:sp>
      <p:sp>
        <p:nvSpPr>
          <p:cNvPr id="22" name="rec to compiler"/>
          <p:cNvSpPr/>
          <p:nvPr/>
        </p:nvSpPr>
        <p:spPr>
          <a:xfrm>
            <a:off x="4297680" y="2459736"/>
            <a:ext cx="274320" cy="0"/>
          </a:xfrm>
          <a:prstGeom prst="line">
            <a:avLst/>
          </a:prstGeom>
          <a:noFill/>
          <a:ln w="19050">
            <a:solidFill>
              <a:srgbClr val="63637E"/>
            </a:solidFill>
            <a:prstDash val="solid"/>
            <a:tailEnd type="triangle"/>
          </a:ln>
        </p:spPr>
      </p:sp>
      <p:sp>
        <p:nvSpPr>
          <p:cNvPr id="23" name="compiler to store"/>
          <p:cNvSpPr/>
          <p:nvPr/>
        </p:nvSpPr>
        <p:spPr>
          <a:xfrm>
            <a:off x="6309360" y="2459736"/>
            <a:ext cx="274320" cy="0"/>
          </a:xfrm>
          <a:prstGeom prst="line">
            <a:avLst/>
          </a:prstGeom>
          <a:noFill/>
          <a:ln w="19050">
            <a:solidFill>
              <a:srgbClr val="63637E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331720" y="3246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RUN</a:t>
            </a:r>
            <a:endParaRPr lang="en-US" sz="1100" dirty="0"/>
          </a:p>
        </p:txBody>
      </p:sp>
      <p:sp>
        <p:nvSpPr>
          <p:cNvPr id="25" name="matcher"/>
          <p:cNvSpPr/>
          <p:nvPr/>
        </p:nvSpPr>
        <p:spPr>
          <a:xfrm>
            <a:off x="2377440" y="3520440"/>
            <a:ext cx="192024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468880" y="3593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IntentMatcher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4688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exact · template · similar</a:t>
            </a:r>
            <a:endParaRPr lang="en-US" sz="1050" dirty="0"/>
          </a:p>
        </p:txBody>
      </p:sp>
      <p:sp>
        <p:nvSpPr>
          <p:cNvPr id="28" name="decision"/>
          <p:cNvSpPr/>
          <p:nvPr/>
        </p:nvSpPr>
        <p:spPr>
          <a:xfrm>
            <a:off x="4572000" y="3520440"/>
            <a:ext cx="173736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63440" y="35935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DecisionLayer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663440" y="3886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run · confirm · ask · teach</a:t>
            </a:r>
            <a:endParaRPr lang="en-US" sz="1050" dirty="0"/>
          </a:p>
        </p:txBody>
      </p:sp>
      <p:sp>
        <p:nvSpPr>
          <p:cNvPr id="31" name="replay"/>
          <p:cNvSpPr/>
          <p:nvPr/>
        </p:nvSpPr>
        <p:spPr>
          <a:xfrm>
            <a:off x="6583680" y="352044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5120" y="35935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ReplayEngine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67512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resolver + recoveries</a:t>
            </a:r>
            <a:endParaRPr lang="en-US" sz="1050" dirty="0"/>
          </a:p>
        </p:txBody>
      </p:sp>
      <p:sp>
        <p:nvSpPr>
          <p:cNvPr id="34" name="matcher to decision"/>
          <p:cNvSpPr/>
          <p:nvPr/>
        </p:nvSpPr>
        <p:spPr>
          <a:xfrm>
            <a:off x="4297680" y="3877056"/>
            <a:ext cx="274320" cy="0"/>
          </a:xfrm>
          <a:prstGeom prst="line">
            <a:avLst/>
          </a:prstGeom>
          <a:noFill/>
          <a:ln w="19050">
            <a:solidFill>
              <a:srgbClr val="63637E"/>
            </a:solidFill>
            <a:prstDash val="solid"/>
            <a:tailEnd type="triangle"/>
          </a:ln>
        </p:spPr>
      </p:sp>
      <p:sp>
        <p:nvSpPr>
          <p:cNvPr id="35" name="decision to replay"/>
          <p:cNvSpPr/>
          <p:nvPr/>
        </p:nvSpPr>
        <p:spPr>
          <a:xfrm>
            <a:off x="6309360" y="3877056"/>
            <a:ext cx="274320" cy="0"/>
          </a:xfrm>
          <a:prstGeom prst="line">
            <a:avLst/>
          </a:prstGeom>
          <a:noFill/>
          <a:ln w="19050">
            <a:solidFill>
              <a:srgbClr val="63637E"/>
            </a:solidFill>
            <a:prstDash val="solid"/>
            <a:tailEnd type="triangle"/>
          </a:ln>
        </p:spPr>
      </p:sp>
      <p:sp>
        <p:nvSpPr>
          <p:cNvPr id="36" name="store to replay"/>
          <p:cNvSpPr/>
          <p:nvPr/>
        </p:nvSpPr>
        <p:spPr>
          <a:xfrm>
            <a:off x="7589520" y="2816352"/>
            <a:ext cx="0" cy="704088"/>
          </a:xfrm>
          <a:prstGeom prst="line">
            <a:avLst/>
          </a:prstGeom>
          <a:noFill/>
          <a:ln w="19050">
            <a:solidFill>
              <a:srgbClr val="63637E"/>
            </a:solidFill>
            <a:prstDash val="solid"/>
            <a:tailEnd type="triangle"/>
          </a:ln>
        </p:spPr>
      </p:sp>
      <p:sp>
        <p:nvSpPr>
          <p:cNvPr id="37" name="bubble to recorder"/>
          <p:cNvSpPr/>
          <p:nvPr/>
        </p:nvSpPr>
        <p:spPr>
          <a:xfrm flipV="1">
            <a:off x="1920240" y="2459736"/>
            <a:ext cx="457200" cy="1143000"/>
          </a:xfrm>
          <a:prstGeom prst="line">
            <a:avLst/>
          </a:prstGeom>
          <a:noFill/>
          <a:ln w="19050">
            <a:solidFill>
              <a:srgbClr val="63637E"/>
            </a:solidFill>
            <a:prstDash val="solid"/>
            <a:tailEnd type="triangle"/>
          </a:ln>
        </p:spPr>
      </p:sp>
      <p:sp>
        <p:nvSpPr>
          <p:cNvPr id="38" name="bubble to matcher"/>
          <p:cNvSpPr/>
          <p:nvPr/>
        </p:nvSpPr>
        <p:spPr>
          <a:xfrm>
            <a:off x="1920240" y="3602736"/>
            <a:ext cx="457200" cy="274320"/>
          </a:xfrm>
          <a:prstGeom prst="line">
            <a:avLst/>
          </a:prstGeom>
          <a:noFill/>
          <a:ln w="19050">
            <a:solidFill>
              <a:srgbClr val="63637E"/>
            </a:solidFill>
            <a:prstDash val="solid"/>
            <a:tailEnd type="triangle"/>
          </a:ln>
        </p:spPr>
      </p:sp>
      <p:sp>
        <p:nvSpPr>
          <p:cNvPr id="39" name="runs"/>
          <p:cNvSpPr/>
          <p:nvPr/>
        </p:nvSpPr>
        <p:spPr>
          <a:xfrm>
            <a:off x="2377440" y="4480560"/>
            <a:ext cx="192024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9050">
            <a:solidFill>
              <a:srgbClr val="63637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468880" y="45537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Run records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2468880" y="4846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“Did the last run succeed?”</a:t>
            </a:r>
            <a:endParaRPr lang="en-US" sz="1050" dirty="0"/>
          </a:p>
        </p:txBody>
      </p:sp>
      <p:sp>
        <p:nvSpPr>
          <p:cNvPr id="42" name="safety"/>
          <p:cNvSpPr/>
          <p:nvPr/>
        </p:nvSpPr>
        <p:spPr>
          <a:xfrm>
            <a:off x="9189720" y="3520440"/>
            <a:ext cx="205740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9050">
            <a:solidFill>
              <a:srgbClr val="C8401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281160" y="359359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SafetyGuard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281160" y="3886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the only way to act</a:t>
            </a:r>
            <a:endParaRPr lang="en-US" sz="1050" dirty="0"/>
          </a:p>
        </p:txBody>
      </p:sp>
      <p:sp>
        <p:nvSpPr>
          <p:cNvPr id="45" name="replay to safety"/>
          <p:cNvSpPr/>
          <p:nvPr/>
        </p:nvSpPr>
        <p:spPr>
          <a:xfrm>
            <a:off x="8595360" y="3877056"/>
            <a:ext cx="594360" cy="0"/>
          </a:xfrm>
          <a:prstGeom prst="line">
            <a:avLst/>
          </a:prstGeom>
          <a:noFill/>
          <a:ln w="19050">
            <a:solidFill>
              <a:srgbClr val="63637E"/>
            </a:solidFill>
            <a:prstDash val="solid"/>
            <a:tailEnd type="triangle"/>
          </a:ln>
        </p:spPr>
      </p:sp>
      <p:sp>
        <p:nvSpPr>
          <p:cNvPr id="46" name="a11y"/>
          <p:cNvSpPr/>
          <p:nvPr/>
        </p:nvSpPr>
        <p:spPr>
          <a:xfrm>
            <a:off x="9189720" y="4663440"/>
            <a:ext cx="205740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 w="19050">
            <a:solidFill>
              <a:srgbClr val="63637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281160" y="473659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Accessibility Service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9281160" y="50292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click · text · scroll · launch</a:t>
            </a:r>
            <a:endParaRPr lang="en-US" sz="1050" dirty="0"/>
          </a:p>
        </p:txBody>
      </p:sp>
      <p:sp>
        <p:nvSpPr>
          <p:cNvPr id="49" name="safety to a11y"/>
          <p:cNvSpPr/>
          <p:nvPr/>
        </p:nvSpPr>
        <p:spPr>
          <a:xfrm>
            <a:off x="10222992" y="4233672"/>
            <a:ext cx="0" cy="429768"/>
          </a:xfrm>
          <a:prstGeom prst="line">
            <a:avLst/>
          </a:prstGeom>
          <a:noFill/>
          <a:ln w="19050">
            <a:solidFill>
              <a:srgbClr val="63637E"/>
            </a:solidFill>
            <a:prstDash val="solid"/>
            <a:tailEnd type="triangle"/>
          </a:ln>
        </p:spPr>
      </p:sp>
      <p:sp>
        <p:nvSpPr>
          <p:cNvPr id="50" name="gemini box"/>
          <p:cNvSpPr/>
          <p:nvPr/>
        </p:nvSpPr>
        <p:spPr>
          <a:xfrm>
            <a:off x="9189720" y="1783080"/>
            <a:ext cx="205740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5240">
            <a:solidFill>
              <a:srgbClr val="2563EB"/>
            </a:solidFill>
            <a:prstDash val="dash"/>
          </a:ln>
        </p:spPr>
      </p:sp>
      <p:sp>
        <p:nvSpPr>
          <p:cNvPr id="51" name="Text 48"/>
          <p:cNvSpPr txBox="1"/>
          <p:nvPr/>
        </p:nvSpPr>
        <p:spPr>
          <a:xfrm>
            <a:off x="9281160" y="18562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accent4"/>
                </a:solidFill>
              </a:rPr>
              <a:t>Gemini (optional)</a:t>
            </a:r>
            <a:endParaRPr lang="en-US" sz="1250" dirty="0"/>
          </a:p>
        </p:txBody>
      </p:sp>
      <p:sp>
        <p:nvSpPr>
          <p:cNvPr id="52" name="Text 49"/>
          <p:cNvSpPr txBox="1"/>
          <p:nvPr/>
        </p:nvSpPr>
        <p:spPr>
          <a:xfrm>
            <a:off x="928116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advisory only, via a relay</a:t>
            </a:r>
            <a:endParaRPr lang="en-US" sz="1050" dirty="0"/>
          </a:p>
        </p:txBody>
      </p:sp>
      <p:sp>
        <p:nvSpPr>
          <p:cNvPr id="53" name="gemini to replay"/>
          <p:cNvSpPr/>
          <p:nvPr/>
        </p:nvSpPr>
        <p:spPr>
          <a:xfrm flipH="1">
            <a:off x="8595360" y="2651760"/>
            <a:ext cx="1097280" cy="960120"/>
          </a:xfrm>
          <a:prstGeom prst="line">
            <a:avLst/>
          </a:prstGeom>
          <a:noFill/>
          <a:ln w="19050">
            <a:solidFill>
              <a:srgbClr val="63637E"/>
            </a:solidFill>
            <a:prstDash val="dash"/>
            <a:tailEnd type="triangle"/>
          </a:ln>
        </p:spPr>
      </p:sp>
      <p:sp>
        <p:nvSpPr>
          <p:cNvPr id="54" name="shield circle"/>
          <p:cNvSpPr/>
          <p:nvPr/>
        </p:nvSpPr>
        <p:spPr>
          <a:xfrm>
            <a:off x="548640" y="548640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5" name="shiel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" y="5609844"/>
            <a:ext cx="210312" cy="210312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1115568" y="5532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Every action passes SafetyGuard</a:t>
            </a:r>
            <a:endParaRPr lang="en-US" sz="1400" dirty="0"/>
          </a:p>
        </p:txBody>
      </p:sp>
      <p:sp>
        <p:nvSpPr>
          <p:cNvPr id="57" name="brain circle"/>
          <p:cNvSpPr/>
          <p:nvPr/>
        </p:nvSpPr>
        <p:spPr>
          <a:xfrm>
            <a:off x="4297680" y="54864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8" name="brai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124" y="5609844"/>
            <a:ext cx="210312" cy="210312"/>
          </a:xfrm>
          <a:prstGeom prst="rect">
            <a:avLst/>
          </a:prstGeom>
        </p:spPr>
      </p:pic>
      <p:sp>
        <p:nvSpPr>
          <p:cNvPr id="59" name="Text 54"/>
          <p:cNvSpPr txBox="1"/>
          <p:nvPr/>
        </p:nvSpPr>
        <p:spPr>
          <a:xfrm>
            <a:off x="4864608" y="5532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The LLM only advises</a:t>
            </a:r>
            <a:endParaRPr lang="en-US" sz="1400" dirty="0"/>
          </a:p>
        </p:txBody>
      </p:sp>
      <p:sp>
        <p:nvSpPr>
          <p:cNvPr id="60" name="lock circle"/>
          <p:cNvSpPr/>
          <p:nvPr/>
        </p:nvSpPr>
        <p:spPr>
          <a:xfrm>
            <a:off x="8046720" y="54864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1" name="loc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164" y="5609844"/>
            <a:ext cx="210312" cy="210312"/>
          </a:xfrm>
          <a:prstGeom prst="rect">
            <a:avLst/>
          </a:prstGeom>
        </p:spPr>
      </p:pic>
      <p:sp>
        <p:nvSpPr>
          <p:cNvPr id="62" name="Text 56"/>
          <p:cNvSpPr txBox="1"/>
          <p:nvPr/>
        </p:nvSpPr>
        <p:spPr>
          <a:xfrm>
            <a:off x="8613648" y="55321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Fails closed; nothing sensitive stored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Demo &amp; Product Walkthrough</a:t>
            </a:r>
            <a:endParaRPr lang="en-US" sz="3200" dirty="0"/>
          </a:p>
        </p:txBody>
      </p:sp>
      <p:sp>
        <p:nvSpPr>
          <p:cNvPr id="3" name="phone frame a"/>
          <p:cNvSpPr/>
          <p:nvPr/>
        </p:nvSpPr>
        <p:spPr>
          <a:xfrm>
            <a:off x="493776" y="1179576"/>
            <a:ext cx="1810512" cy="3794760"/>
          </a:xfrm>
          <a:prstGeom prst="roundRect">
            <a:avLst>
              <a:gd name="adj" fmla="val 8081"/>
            </a:avLst>
          </a:prstGeom>
          <a:solidFill>
            <a:schemeClr val="tx1"/>
          </a:solidFill>
          <a:ln/>
        </p:spPr>
      </p:sp>
      <p:pic>
        <p:nvPicPr>
          <p:cNvPr id="4" name="screen a" descr="C:\Users\HARSHA B S\AppData\Local\Temp\claude\C--dev-echoflow-android\da9a8894-237a-4cfe-b4ec-86074de6fbd6\scratchpad\deck2\shots\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700784" cy="3685032"/>
          </a:xfrm>
          <a:prstGeom prst="rect">
            <a:avLst/>
          </a:prstGeom>
        </p:spPr>
      </p:pic>
      <p:sp>
        <p:nvSpPr>
          <p:cNvPr id="5" name="badge a"/>
          <p:cNvSpPr/>
          <p:nvPr/>
        </p:nvSpPr>
        <p:spPr>
          <a:xfrm>
            <a:off x="365760" y="105156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508406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Teach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5376672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“Order a Garlic Bread on Domino’s.” → yes → search, Add, cart → Done</a:t>
            </a:r>
            <a:endParaRPr lang="en-US" sz="1100" dirty="0"/>
          </a:p>
        </p:txBody>
      </p:sp>
      <p:sp>
        <p:nvSpPr>
          <p:cNvPr id="9" name="phone frame b"/>
          <p:cNvSpPr/>
          <p:nvPr/>
        </p:nvSpPr>
        <p:spPr>
          <a:xfrm>
            <a:off x="2842184" y="1179576"/>
            <a:ext cx="1810512" cy="3794760"/>
          </a:xfrm>
          <a:prstGeom prst="roundRect">
            <a:avLst>
              <a:gd name="adj" fmla="val 8081"/>
            </a:avLst>
          </a:prstGeom>
          <a:solidFill>
            <a:schemeClr val="tx1"/>
          </a:solidFill>
          <a:ln/>
        </p:spPr>
      </p:sp>
      <p:pic>
        <p:nvPicPr>
          <p:cNvPr id="10" name="screen b" descr="C:\Users\HARSHA B S\AppData\Local\Temp\claude\C--dev-echoflow-android\da9a8894-237a-4cfe-b4ec-86074de6fbd6\scratchpad\deck2\shots\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48" y="1234440"/>
            <a:ext cx="1700784" cy="3685032"/>
          </a:xfrm>
          <a:prstGeom prst="rect">
            <a:avLst/>
          </a:prstGeom>
        </p:spPr>
      </p:pic>
      <p:sp>
        <p:nvSpPr>
          <p:cNvPr id="11" name="badge b"/>
          <p:cNvSpPr/>
          <p:nvPr/>
        </p:nvSpPr>
        <p:spPr>
          <a:xfrm>
            <a:off x="2714168" y="105156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714168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805608" y="508406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Exact replay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805608" y="5376672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Same words: replays the lesson and stops at Pay</a:t>
            </a:r>
            <a:endParaRPr lang="en-US" sz="1100" dirty="0"/>
          </a:p>
        </p:txBody>
      </p:sp>
      <p:sp>
        <p:nvSpPr>
          <p:cNvPr id="15" name="phone frame c"/>
          <p:cNvSpPr/>
          <p:nvPr/>
        </p:nvSpPr>
        <p:spPr>
          <a:xfrm>
            <a:off x="5190592" y="1179576"/>
            <a:ext cx="1810512" cy="3794760"/>
          </a:xfrm>
          <a:prstGeom prst="roundRect">
            <a:avLst>
              <a:gd name="adj" fmla="val 8081"/>
            </a:avLst>
          </a:prstGeom>
          <a:solidFill>
            <a:schemeClr val="tx1"/>
          </a:solidFill>
          <a:ln/>
        </p:spPr>
      </p:sp>
      <p:pic>
        <p:nvPicPr>
          <p:cNvPr id="16" name="screen c" descr="C:\Users\HARSHA B S\AppData\Local\Temp\claude\C--dev-echoflow-android\da9a8894-237a-4cfe-b4ec-86074de6fbd6\scratchpad\deck2\shots\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5456" y="1234440"/>
            <a:ext cx="1700784" cy="3685032"/>
          </a:xfrm>
          <a:prstGeom prst="rect">
            <a:avLst/>
          </a:prstGeom>
        </p:spPr>
      </p:pic>
      <p:sp>
        <p:nvSpPr>
          <p:cNvPr id="17" name="badge c"/>
          <p:cNvSpPr/>
          <p:nvPr/>
        </p:nvSpPr>
        <p:spPr>
          <a:xfrm>
            <a:off x="5062576" y="105156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062576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5154016" y="508406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Paraphrase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154016" y="5376672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“Get me garlic bread from Domino’s.” Already in cart: not added again</a:t>
            </a:r>
            <a:endParaRPr lang="en-US" sz="1100" dirty="0"/>
          </a:p>
        </p:txBody>
      </p:sp>
      <p:sp>
        <p:nvSpPr>
          <p:cNvPr id="21" name="phone frame d"/>
          <p:cNvSpPr/>
          <p:nvPr/>
        </p:nvSpPr>
        <p:spPr>
          <a:xfrm>
            <a:off x="7538999" y="1179576"/>
            <a:ext cx="1810512" cy="3794760"/>
          </a:xfrm>
          <a:prstGeom prst="roundRect">
            <a:avLst>
              <a:gd name="adj" fmla="val 8081"/>
            </a:avLst>
          </a:prstGeom>
          <a:solidFill>
            <a:schemeClr val="tx1"/>
          </a:solidFill>
          <a:ln/>
        </p:spPr>
      </p:sp>
      <p:pic>
        <p:nvPicPr>
          <p:cNvPr id="22" name="screen d" descr="C:\Users\HARSHA B S\AppData\Local\Temp\claude\C--dev-echoflow-android\da9a8894-237a-4cfe-b4ec-86074de6fbd6\scratchpad\deck2\shots\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3863" y="1234440"/>
            <a:ext cx="1700784" cy="3685032"/>
          </a:xfrm>
          <a:prstGeom prst="rect">
            <a:avLst/>
          </a:prstGeom>
        </p:spPr>
      </p:pic>
      <p:sp>
        <p:nvSpPr>
          <p:cNvPr id="23" name="badge d"/>
          <p:cNvSpPr/>
          <p:nvPr/>
        </p:nvSpPr>
        <p:spPr>
          <a:xfrm>
            <a:off x="7410983" y="105156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410983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7502423" y="508406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New values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502423" y="5376672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“Order two Choco Lava Cakes.” New item, quantity set to 2</a:t>
            </a:r>
            <a:endParaRPr lang="en-US" sz="1100" dirty="0"/>
          </a:p>
        </p:txBody>
      </p:sp>
      <p:sp>
        <p:nvSpPr>
          <p:cNvPr id="27" name="phone frame e"/>
          <p:cNvSpPr/>
          <p:nvPr/>
        </p:nvSpPr>
        <p:spPr>
          <a:xfrm>
            <a:off x="9887407" y="1179576"/>
            <a:ext cx="1810512" cy="3794760"/>
          </a:xfrm>
          <a:prstGeom prst="roundRect">
            <a:avLst>
              <a:gd name="adj" fmla="val 8081"/>
            </a:avLst>
          </a:prstGeom>
          <a:solidFill>
            <a:schemeClr val="tx1"/>
          </a:solidFill>
          <a:ln/>
        </p:spPr>
      </p:sp>
      <p:pic>
        <p:nvPicPr>
          <p:cNvPr id="28" name="screen e" descr="C:\Users\HARSHA B S\AppData\Local\Temp\claude\C--dev-echoflow-android\da9a8894-237a-4cfe-b4ec-86074de6fbd6\scratchpad\deck2\shots\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2271" y="1234440"/>
            <a:ext cx="1700784" cy="3685032"/>
          </a:xfrm>
          <a:prstGeom prst="rect">
            <a:avLst/>
          </a:prstGeom>
        </p:spPr>
      </p:pic>
      <p:sp>
        <p:nvSpPr>
          <p:cNvPr id="29" name="badge e"/>
          <p:cNvSpPr/>
          <p:nvPr/>
        </p:nvSpPr>
        <p:spPr>
          <a:xfrm>
            <a:off x="9759391" y="105156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9759391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850831" y="508406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Stuck → asks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9850831" y="5376672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“Unicorn pizza”: not found, asks what to get instead, then stops</a:t>
            </a:r>
            <a:endParaRPr lang="en-US" sz="1100" dirty="0"/>
          </a:p>
        </p:txBody>
      </p:sp>
      <p:pic>
        <p:nvPicPr>
          <p:cNvPr id="33" name="video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053328"/>
            <a:ext cx="219456" cy="21945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59536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Watch the full demo: </a:t>
            </a:r>
            <a:pPr indent="0" marL="0">
              <a:buNone/>
            </a:pPr>
            <a:r>
              <a:rPr lang="en-US" sz="1200" b="1" u="sng" dirty="0">
                <a:solidFill>
                  <a:schemeClr val="accent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EchoFlow_Demo_v8.mp4 (4:36, one continuous recording)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Tools &amp; Tech Stack</a:t>
            </a:r>
            <a:endParaRPr lang="en-US" sz="3200" dirty="0"/>
          </a:p>
        </p:txBody>
      </p:sp>
      <p:sp>
        <p:nvSpPr>
          <p:cNvPr id="3" name="Kotlin tile"/>
          <p:cNvSpPr/>
          <p:nvPr/>
        </p:nvSpPr>
        <p:spPr>
          <a:xfrm>
            <a:off x="548640" y="1298448"/>
            <a:ext cx="352044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4" name="code circle"/>
          <p:cNvSpPr/>
          <p:nvPr/>
        </p:nvSpPr>
        <p:spPr>
          <a:xfrm>
            <a:off x="777240" y="1645920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od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186" y="1808866"/>
            <a:ext cx="277612" cy="2776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49961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Kotlin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865376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JVM core + Android app, JDK 17</a:t>
            </a:r>
            <a:endParaRPr lang="en-US" sz="1250" dirty="0"/>
          </a:p>
        </p:txBody>
      </p:sp>
      <p:sp>
        <p:nvSpPr>
          <p:cNvPr id="8" name="Accessibility Service tile"/>
          <p:cNvSpPr/>
          <p:nvPr/>
        </p:nvSpPr>
        <p:spPr>
          <a:xfrm>
            <a:off x="4297680" y="1298448"/>
            <a:ext cx="352044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9" name="android circle"/>
          <p:cNvSpPr/>
          <p:nvPr/>
        </p:nvSpPr>
        <p:spPr>
          <a:xfrm>
            <a:off x="4526280" y="164592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ndroi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226" y="1808866"/>
            <a:ext cx="277612" cy="2776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149961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Accessibility Service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303520" y="1865376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UI-tree snapshots, click, text, IME, scroll, gestures</a:t>
            </a:r>
            <a:endParaRPr lang="en-US" sz="1250" dirty="0"/>
          </a:p>
        </p:txBody>
      </p:sp>
      <p:sp>
        <p:nvSpPr>
          <p:cNvPr id="13" name="SpeechRecognizer + TTS tile"/>
          <p:cNvSpPr/>
          <p:nvPr/>
        </p:nvSpPr>
        <p:spPr>
          <a:xfrm>
            <a:off x="8046720" y="1298448"/>
            <a:ext cx="352044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4" name="mic circle"/>
          <p:cNvSpPr/>
          <p:nvPr/>
        </p:nvSpPr>
        <p:spPr>
          <a:xfrm>
            <a:off x="8275320" y="1645920"/>
            <a:ext cx="603504" cy="60350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mic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266" y="1808866"/>
            <a:ext cx="277612" cy="27761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2560" y="149961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SpeechRecognizer + TTS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9052560" y="1865376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On-device speech in, natural-pitch voice out</a:t>
            </a:r>
            <a:endParaRPr lang="en-US" sz="1250" dirty="0"/>
          </a:p>
        </p:txBody>
      </p:sp>
      <p:sp>
        <p:nvSpPr>
          <p:cNvPr id="18" name="Floating overlay UI tile"/>
          <p:cNvSpPr/>
          <p:nvPr/>
        </p:nvSpPr>
        <p:spPr>
          <a:xfrm>
            <a:off x="548640" y="2834640"/>
            <a:ext cx="352044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9" name="layers circle"/>
          <p:cNvSpPr/>
          <p:nvPr/>
        </p:nvSpPr>
        <p:spPr>
          <a:xfrm>
            <a:off x="777240" y="3182112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layers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86" y="3345058"/>
            <a:ext cx="277612" cy="27761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54480" y="30358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Floating overlay UI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1554480" y="340156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Edge handle, teach panel, Flow Inspector</a:t>
            </a:r>
            <a:endParaRPr lang="en-US" sz="1250" dirty="0"/>
          </a:p>
        </p:txBody>
      </p:sp>
      <p:sp>
        <p:nvSpPr>
          <p:cNvPr id="23" name="Gradle (KTS) tile"/>
          <p:cNvSpPr/>
          <p:nvPr/>
        </p:nvSpPr>
        <p:spPr>
          <a:xfrm>
            <a:off x="4297680" y="2834640"/>
            <a:ext cx="352044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24" name="gears circle"/>
          <p:cNvSpPr/>
          <p:nvPr/>
        </p:nvSpPr>
        <p:spPr>
          <a:xfrm>
            <a:off x="4526280" y="3182112"/>
            <a:ext cx="603504" cy="60350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gears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226" y="3345058"/>
            <a:ext cx="277612" cy="2776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03520" y="30358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Gradle (KTS)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5303520" y="340156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compileSdk 35 · minSdk 30 (Android 11+)</a:t>
            </a:r>
            <a:endParaRPr lang="en-US" sz="1250" dirty="0"/>
          </a:p>
        </p:txBody>
      </p:sp>
      <p:sp>
        <p:nvSpPr>
          <p:cNvPr id="28" name="JUnit 5 tile"/>
          <p:cNvSpPr/>
          <p:nvPr/>
        </p:nvSpPr>
        <p:spPr>
          <a:xfrm>
            <a:off x="8046720" y="2834640"/>
            <a:ext cx="352044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29" name="flask circle"/>
          <p:cNvSpPr/>
          <p:nvPr/>
        </p:nvSpPr>
        <p:spPr>
          <a:xfrm>
            <a:off x="8275320" y="3182112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lask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8266" y="3345058"/>
            <a:ext cx="277612" cy="2776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30358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JUnit 5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9052560" y="340156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203 unit tests, real Swiggy / Zomato / Amazon screen fixtures</a:t>
            </a:r>
            <a:endParaRPr lang="en-US" sz="1250" dirty="0"/>
          </a:p>
        </p:txBody>
      </p:sp>
      <p:sp>
        <p:nvSpPr>
          <p:cNvPr id="33" name="Gemini Flash-Lite (optional) tile"/>
          <p:cNvSpPr/>
          <p:nvPr/>
        </p:nvSpPr>
        <p:spPr>
          <a:xfrm>
            <a:off x="548640" y="4370832"/>
            <a:ext cx="352044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34" name="cloud circle"/>
          <p:cNvSpPr/>
          <p:nvPr/>
        </p:nvSpPr>
        <p:spPr>
          <a:xfrm>
            <a:off x="777240" y="4718304"/>
            <a:ext cx="603504" cy="603504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5" name="cloud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186" y="4881250"/>
            <a:ext cx="277612" cy="27761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554480" y="4572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Gemini Flash-Lite (optional)</a:t>
            </a:r>
            <a:endParaRPr lang="en-US" sz="1600" dirty="0"/>
          </a:p>
        </p:txBody>
      </p:sp>
      <p:sp>
        <p:nvSpPr>
          <p:cNvPr id="37" name="Text 28"/>
          <p:cNvSpPr txBox="1"/>
          <p:nvPr/>
        </p:nvSpPr>
        <p:spPr>
          <a:xfrm>
            <a:off x="155448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Through a Cloudflare Worker relay; capped, no key on the phone</a:t>
            </a:r>
            <a:endParaRPr lang="en-US" sz="1250" dirty="0"/>
          </a:p>
        </p:txBody>
      </p:sp>
      <p:sp>
        <p:nvSpPr>
          <p:cNvPr id="38" name="Galaxy S24 FE tile"/>
          <p:cNvSpPr/>
          <p:nvPr/>
        </p:nvSpPr>
        <p:spPr>
          <a:xfrm>
            <a:off x="4297680" y="4370832"/>
            <a:ext cx="352044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39" name="mobile circle"/>
          <p:cNvSpPr/>
          <p:nvPr/>
        </p:nvSpPr>
        <p:spPr>
          <a:xfrm>
            <a:off x="4526280" y="4718304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mobile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89226" y="4881250"/>
            <a:ext cx="277612" cy="277612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303520" y="4572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Galaxy S24 FE</a:t>
            </a:r>
            <a:endParaRPr lang="en-US" sz="1600" dirty="0"/>
          </a:p>
        </p:txBody>
      </p:sp>
      <p:sp>
        <p:nvSpPr>
          <p:cNvPr id="42" name="Text 32"/>
          <p:cNvSpPr txBox="1"/>
          <p:nvPr/>
        </p:nvSpPr>
        <p:spPr>
          <a:xfrm>
            <a:off x="530352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Every official test run on a real phone with real apps</a:t>
            </a:r>
            <a:endParaRPr lang="en-US" sz="1250" dirty="0"/>
          </a:p>
        </p:txBody>
      </p:sp>
      <p:sp>
        <p:nvSpPr>
          <p:cNvPr id="43" name="Git + GitHub tile"/>
          <p:cNvSpPr/>
          <p:nvPr/>
        </p:nvSpPr>
        <p:spPr>
          <a:xfrm>
            <a:off x="8046720" y="4370832"/>
            <a:ext cx="352044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44" name="git circle"/>
          <p:cNvSpPr/>
          <p:nvPr/>
        </p:nvSpPr>
        <p:spPr>
          <a:xfrm>
            <a:off x="8275320" y="4718304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5" name="git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8266" y="4881250"/>
            <a:ext cx="277612" cy="277612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9052560" y="4572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Git + GitHub</a:t>
            </a:r>
            <a:endParaRPr lang="en-US" sz="1600" dirty="0"/>
          </a:p>
        </p:txBody>
      </p:sp>
      <p:sp>
        <p:nvSpPr>
          <p:cNvPr id="47" name="Text 36"/>
          <p:cNvSpPr txBox="1"/>
          <p:nvPr/>
        </p:nvSpPr>
        <p:spPr>
          <a:xfrm>
            <a:off x="9052560" y="4937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Signed release APK v1.2.3 · no API keys inside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Impact &amp; Use Case</a:t>
            </a:r>
            <a:endParaRPr lang="en-US" sz="3200" dirty="0"/>
          </a:p>
        </p:txBody>
      </p:sp>
      <p:sp>
        <p:nvSpPr>
          <p:cNvPr id="3" name="hero panel"/>
          <p:cNvSpPr/>
          <p:nvPr/>
        </p:nvSpPr>
        <p:spPr>
          <a:xfrm>
            <a:off x="548640" y="1325880"/>
            <a:ext cx="4114800" cy="4480560"/>
          </a:xfrm>
          <a:prstGeom prst="roundRect">
            <a:avLst>
              <a:gd name="adj" fmla="val 3111"/>
            </a:avLst>
          </a:prstGeom>
          <a:solidFill>
            <a:schemeClr val="tx2"/>
          </a:solidFill>
          <a:ln/>
        </p:spPr>
      </p:sp>
      <p:sp>
        <p:nvSpPr>
          <p:cNvPr id="4" name="user circle"/>
          <p:cNvSpPr/>
          <p:nvPr/>
        </p:nvSpPr>
        <p:spPr>
          <a:xfrm>
            <a:off x="91440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user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1889150"/>
            <a:ext cx="336499" cy="3364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6060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For anyone who repeats phone tasks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61188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Food orders, shopping searches, everyday app chores. Show it once; after that, one sentence does it.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7548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  demonstration → endless variations</a:t>
            </a:r>
            <a:endParaRPr lang="en-US" sz="4400" dirty="0"/>
          </a:p>
        </p:txBody>
      </p:sp>
      <p:sp>
        <p:nvSpPr>
          <p:cNvPr id="9" name="Accessibility card"/>
          <p:cNvSpPr/>
          <p:nvPr/>
        </p:nvSpPr>
        <p:spPr>
          <a:xfrm>
            <a:off x="4983480" y="1325880"/>
            <a:ext cx="3154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0" name="access circle"/>
          <p:cNvSpPr/>
          <p:nvPr/>
        </p:nvSpPr>
        <p:spPr>
          <a:xfrm>
            <a:off x="5239512" y="16002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cces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645" y="174833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39512" y="2258568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Accessibility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239512" y="2624328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Voice-first, never voice-only: answer by voice, tap or typing. AA contrast, 48 dp targets, TalkBack headings.</a:t>
            </a:r>
            <a:endParaRPr lang="en-US" sz="1250" dirty="0"/>
          </a:p>
        </p:txBody>
      </p:sp>
      <p:sp>
        <p:nvSpPr>
          <p:cNvPr id="14" name="Safe by design card"/>
          <p:cNvSpPr/>
          <p:nvPr/>
        </p:nvSpPr>
        <p:spPr>
          <a:xfrm>
            <a:off x="8366760" y="1325880"/>
            <a:ext cx="3154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5" name="shield circle"/>
          <p:cNvSpPr/>
          <p:nvPr/>
        </p:nvSpPr>
        <p:spPr>
          <a:xfrm>
            <a:off x="8622792" y="16002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shield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925" y="174833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622792" y="2258568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Safe by design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622792" y="2624328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Never automates payment, OTP, login or password screens — validated on real Swiggy, Zomato and Amazon.</a:t>
            </a:r>
            <a:endParaRPr lang="en-US" sz="1250" dirty="0"/>
          </a:p>
        </p:txBody>
      </p:sp>
      <p:sp>
        <p:nvSpPr>
          <p:cNvPr id="19" name="Works offline card"/>
          <p:cNvSpPr/>
          <p:nvPr/>
        </p:nvSpPr>
        <p:spPr>
          <a:xfrm>
            <a:off x="4983480" y="3611880"/>
            <a:ext cx="3154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20" name="wifi circle"/>
          <p:cNvSpPr/>
          <p:nvPr/>
        </p:nvSpPr>
        <p:spPr>
          <a:xfrm>
            <a:off x="5239512" y="38862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wifi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7645" y="403433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39512" y="4544568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Works offline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239512" y="4910328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No account, no API key, no server needed. Optional AI help works out of the box.</a:t>
            </a:r>
            <a:endParaRPr lang="en-US" sz="1250" dirty="0"/>
          </a:p>
        </p:txBody>
      </p:sp>
      <p:sp>
        <p:nvSpPr>
          <p:cNvPr id="24" name="Any app card"/>
          <p:cNvSpPr/>
          <p:nvPr/>
        </p:nvSpPr>
        <p:spPr>
          <a:xfrm>
            <a:off x="8366760" y="3611880"/>
            <a:ext cx="3154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25" name="puzzle circle"/>
          <p:cNvSpPr/>
          <p:nvPr/>
        </p:nvSpPr>
        <p:spPr>
          <a:xfrm>
            <a:off x="8622792" y="38862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6" name="puzzle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0925" y="403433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622792" y="4544568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Any app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8622792" y="4910328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Anything that shows its UI to accessibility services can be taught. No app-specific code.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Innovation, Results &amp; Limitations</a:t>
            </a:r>
            <a:endParaRPr lang="en-US" sz="3200" dirty="0"/>
          </a:p>
        </p:txBody>
      </p:sp>
      <p:sp>
        <p:nvSpPr>
          <p:cNvPr id="3" name="stat 14/14"/>
          <p:cNvSpPr/>
          <p:nvPr/>
        </p:nvSpPr>
        <p:spPr>
          <a:xfrm>
            <a:off x="548640" y="12801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14/14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tests passed on a real phone (T1–T14)</a:t>
            </a:r>
            <a:endParaRPr lang="en-US" sz="1200" dirty="0"/>
          </a:p>
        </p:txBody>
      </p:sp>
      <p:sp>
        <p:nvSpPr>
          <p:cNvPr id="6" name="stat 3/3"/>
          <p:cNvSpPr/>
          <p:nvPr/>
        </p:nvSpPr>
        <p:spPr>
          <a:xfrm>
            <a:off x="3337560" y="12801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66160" y="14173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3/3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194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bonus tests: stray-tap filter, Amazon → Myntra, missing slot asked</a:t>
            </a:r>
            <a:endParaRPr lang="en-US" sz="1200" dirty="0"/>
          </a:p>
        </p:txBody>
      </p:sp>
      <p:sp>
        <p:nvSpPr>
          <p:cNvPr id="9" name="stat 203"/>
          <p:cNvSpPr/>
          <p:nvPr/>
        </p:nvSpPr>
        <p:spPr>
          <a:xfrm>
            <a:off x="6126480" y="12801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55080" y="14173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203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194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unit tests in the pure-Kotlin core</a:t>
            </a:r>
            <a:endParaRPr lang="en-US" sz="1200" dirty="0"/>
          </a:p>
        </p:txBody>
      </p:sp>
      <p:sp>
        <p:nvSpPr>
          <p:cNvPr id="12" name="stat 0"/>
          <p:cNvSpPr/>
          <p:nvPr/>
        </p:nvSpPr>
        <p:spPr>
          <a:xfrm>
            <a:off x="8915400" y="12801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0" y="14173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1945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taps on Pay or Place Order, in every run</a:t>
            </a:r>
            <a:endParaRPr lang="en-US" sz="1200" dirty="0"/>
          </a:p>
        </p:txBody>
      </p:sp>
      <p:sp>
        <p:nvSpPr>
          <p:cNvPr id="15" name="magic circle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magi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3278124"/>
            <a:ext cx="210312" cy="21031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143000" y="31729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What's new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3730752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Teach once from a live demonstration: no scripts, no SDKs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Values become slots: item, quantity, address, even another app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Run · confirm · ask · teach — it asks instead of guessing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Weighted element finder (id, text, row, description, parent) plus recoveries for pop-ups, scrolling and items already in the cart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Deterministic, local safety that fails closed</a:t>
            </a:r>
            <a:endParaRPr lang="en-US" sz="1350" dirty="0"/>
          </a:p>
        </p:txBody>
      </p:sp>
      <p:sp>
        <p:nvSpPr>
          <p:cNvPr id="19" name="eye circle"/>
          <p:cNvSpPr/>
          <p:nvPr/>
        </p:nvSpPr>
        <p:spPr>
          <a:xfrm>
            <a:off x="6263640" y="315468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0" name="ey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084" y="3278124"/>
            <a:ext cx="210312" cy="21031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858000" y="317296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Known limitations (documented)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6263640" y="3730752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Size pickers (Amazon apparel) are not automated: it asks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Secure pickers (Swiggy's cart address sheet) need a fallback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Cross-app reuse validated for Amazon → Myntra only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Apps that hide their UI from accessibility can't be taught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One phone and one account tested so far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What's Next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914400" y="1965960"/>
            <a:ext cx="10362895" cy="0"/>
          </a:xfrm>
          <a:prstGeom prst="line">
            <a:avLst/>
          </a:prstGeom>
          <a:noFill/>
          <a:ln w="38100">
            <a:solidFill>
              <a:srgbClr val="D9D3F0"/>
            </a:solidFill>
            <a:prstDash val="solid"/>
          </a:ln>
        </p:spPr>
      </p:sp>
      <p:sp>
        <p:nvSpPr>
          <p:cNvPr id="4" name="Next dot"/>
          <p:cNvSpPr/>
          <p:nvPr/>
        </p:nvSpPr>
        <p:spPr>
          <a:xfrm>
            <a:off x="685800" y="1673352"/>
            <a:ext cx="585216" cy="585216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733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1737360"/>
            <a:ext cx="12344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Next</a:t>
            </a:r>
            <a:endParaRPr lang="en-US" sz="2200" dirty="0"/>
          </a:p>
        </p:txBody>
      </p:sp>
      <p:sp>
        <p:nvSpPr>
          <p:cNvPr id="7" name="Next item 0"/>
          <p:cNvSpPr/>
          <p:nvPr/>
        </p:nvSpPr>
        <p:spPr>
          <a:xfrm>
            <a:off x="548640" y="2606040"/>
            <a:ext cx="35204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8" name="brain circle"/>
          <p:cNvSpPr/>
          <p:nvPr/>
        </p:nvSpPr>
        <p:spPr>
          <a:xfrm>
            <a:off x="777240" y="299008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brai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311" y="3143159"/>
            <a:ext cx="260787" cy="26078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8346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On-device Gemini Nano for private paraphrases and slots</a:t>
            </a:r>
            <a:endParaRPr lang="en-US" sz="1500" dirty="0"/>
          </a:p>
        </p:txBody>
      </p:sp>
      <p:sp>
        <p:nvSpPr>
          <p:cNvPr id="11" name="Next item 1"/>
          <p:cNvSpPr/>
          <p:nvPr/>
        </p:nvSpPr>
        <p:spPr>
          <a:xfrm>
            <a:off x="548640" y="4206240"/>
            <a:ext cx="35204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2" name="mobile circle"/>
          <p:cNvSpPr/>
          <p:nvPr/>
        </p:nvSpPr>
        <p:spPr>
          <a:xfrm>
            <a:off x="777240" y="459028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mobil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1" y="4743359"/>
            <a:ext cx="260787" cy="26078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08760" y="44348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More apps validated: Swiggy, Flipkart, Blinkit</a:t>
            </a:r>
            <a:endParaRPr lang="en-US" sz="1500" dirty="0"/>
          </a:p>
        </p:txBody>
      </p:sp>
      <p:sp>
        <p:nvSpPr>
          <p:cNvPr id="15" name="Then dot"/>
          <p:cNvSpPr/>
          <p:nvPr/>
        </p:nvSpPr>
        <p:spPr>
          <a:xfrm>
            <a:off x="4434840" y="1673352"/>
            <a:ext cx="585216" cy="585216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434840" y="16733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5102352" y="1737360"/>
            <a:ext cx="12344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Then</a:t>
            </a:r>
            <a:endParaRPr lang="en-US" sz="2200" dirty="0"/>
          </a:p>
        </p:txBody>
      </p:sp>
      <p:sp>
        <p:nvSpPr>
          <p:cNvPr id="18" name="Then item 0"/>
          <p:cNvSpPr/>
          <p:nvPr/>
        </p:nvSpPr>
        <p:spPr>
          <a:xfrm>
            <a:off x="4297680" y="2606040"/>
            <a:ext cx="35204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9" name="eye circle"/>
          <p:cNvSpPr/>
          <p:nvPr/>
        </p:nvSpPr>
        <p:spPr>
          <a:xfrm>
            <a:off x="4526280" y="299008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ey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351" y="3143159"/>
            <a:ext cx="260787" cy="26078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257800" y="28346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Screenshot fallback for screens apps hide</a:t>
            </a:r>
            <a:endParaRPr lang="en-US" sz="1500" dirty="0"/>
          </a:p>
        </p:txBody>
      </p:sp>
      <p:sp>
        <p:nvSpPr>
          <p:cNvPr id="22" name="Then item 1"/>
          <p:cNvSpPr/>
          <p:nvPr/>
        </p:nvSpPr>
        <p:spPr>
          <a:xfrm>
            <a:off x="4297680" y="4206240"/>
            <a:ext cx="35204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23" name="form circle"/>
          <p:cNvSpPr/>
          <p:nvPr/>
        </p:nvSpPr>
        <p:spPr>
          <a:xfrm>
            <a:off x="4526280" y="459028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form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9351" y="4743359"/>
            <a:ext cx="260787" cy="26078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57800" y="44348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Multi-step form filling with learned fields</a:t>
            </a:r>
            <a:endParaRPr lang="en-US" sz="1500" dirty="0"/>
          </a:p>
        </p:txBody>
      </p:sp>
      <p:sp>
        <p:nvSpPr>
          <p:cNvPr id="26" name="Later dot"/>
          <p:cNvSpPr/>
          <p:nvPr/>
        </p:nvSpPr>
        <p:spPr>
          <a:xfrm>
            <a:off x="8183880" y="1673352"/>
            <a:ext cx="585216" cy="585216"/>
          </a:xfrm>
          <a:prstGeom prst="ellipse">
            <a:avLst/>
          </a:prstGeom>
          <a:solidFill>
            <a:schemeClr val="accent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183880" y="16733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8851392" y="1737360"/>
            <a:ext cx="12344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Later</a:t>
            </a:r>
            <a:endParaRPr lang="en-US" sz="2200" dirty="0"/>
          </a:p>
        </p:txBody>
      </p:sp>
      <p:sp>
        <p:nvSpPr>
          <p:cNvPr id="29" name="Later item 0"/>
          <p:cNvSpPr/>
          <p:nvPr/>
        </p:nvSpPr>
        <p:spPr>
          <a:xfrm>
            <a:off x="8046720" y="2606040"/>
            <a:ext cx="35204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30" name="route circle"/>
          <p:cNvSpPr/>
          <p:nvPr/>
        </p:nvSpPr>
        <p:spPr>
          <a:xfrm>
            <a:off x="8275320" y="2990088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route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8391" y="3143159"/>
            <a:ext cx="260787" cy="260787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006840" y="28346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Beyond shopping: rides, travel, bills</a:t>
            </a:r>
            <a:endParaRPr lang="en-US" sz="1500" dirty="0"/>
          </a:p>
        </p:txBody>
      </p:sp>
      <p:sp>
        <p:nvSpPr>
          <p:cNvPr id="33" name="Later item 1"/>
          <p:cNvSpPr/>
          <p:nvPr/>
        </p:nvSpPr>
        <p:spPr>
          <a:xfrm>
            <a:off x="8046720" y="4206240"/>
            <a:ext cx="35204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34" name="sync circle"/>
          <p:cNvSpPr/>
          <p:nvPr/>
        </p:nvSpPr>
        <p:spPr>
          <a:xfrm>
            <a:off x="8275320" y="4590288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5" name="sync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8391" y="4743359"/>
            <a:ext cx="260787" cy="260787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006840" y="44348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Opt-in encrypted sync of lessons across devices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Brownie Points: What Sets Us Apart</a:t>
            </a:r>
            <a:endParaRPr lang="en-US" sz="3200" dirty="0"/>
          </a:p>
        </p:txBody>
      </p:sp>
      <p:sp>
        <p:nvSpPr>
          <p:cNvPr id="3" name="Teach it live card"/>
          <p:cNvSpPr/>
          <p:nvPr/>
        </p:nvSpPr>
        <p:spPr>
          <a:xfrm>
            <a:off x="548640" y="1298448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4" name="play circle"/>
          <p:cNvSpPr/>
          <p:nvPr/>
        </p:nvSpPr>
        <p:spPr>
          <a:xfrm>
            <a:off x="804672" y="157276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l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7743" y="1725839"/>
            <a:ext cx="260787" cy="2607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Teach it live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2585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Judges can teach a brand-new flow in front of them — nothing is pre-recorded or app-specific.</a:t>
            </a:r>
            <a:endParaRPr lang="en-US" sz="1300" dirty="0"/>
          </a:p>
        </p:txBody>
      </p:sp>
      <p:sp>
        <p:nvSpPr>
          <p:cNvPr id="8" name="Zero pay taps card"/>
          <p:cNvSpPr/>
          <p:nvPr/>
        </p:nvSpPr>
        <p:spPr>
          <a:xfrm>
            <a:off x="4297680" y="1298448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9" name="shield circle"/>
          <p:cNvSpPr/>
          <p:nvPr/>
        </p:nvSpPr>
        <p:spPr>
          <a:xfrm>
            <a:off x="4553712" y="1572768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shiel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783" y="1725839"/>
            <a:ext cx="260787" cy="26078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1645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Zero pay taps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53712" y="22585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SafetyGuard is local and deterministic. A checkout screen still allows quantity and address edits; Pay is never tapped.</a:t>
            </a:r>
            <a:endParaRPr lang="en-US" sz="1300" dirty="0"/>
          </a:p>
        </p:txBody>
      </p:sp>
      <p:sp>
        <p:nvSpPr>
          <p:cNvPr id="13" name="Works offline card"/>
          <p:cNvSpPr/>
          <p:nvPr/>
        </p:nvSpPr>
        <p:spPr>
          <a:xfrm>
            <a:off x="8046720" y="1298448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4" name="wifi circle"/>
          <p:cNvSpPr/>
          <p:nvPr/>
        </p:nvSpPr>
        <p:spPr>
          <a:xfrm>
            <a:off x="8302752" y="157276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wifi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823" y="1725839"/>
            <a:ext cx="260787" cy="26078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1645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Works offline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02752" y="22585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 API key, account or server. Optional AI help runs through a capped relay with no key on the device.</a:t>
            </a:r>
            <a:endParaRPr lang="en-US" sz="1300" dirty="0"/>
          </a:p>
        </p:txBody>
      </p:sp>
      <p:sp>
        <p:nvSpPr>
          <p:cNvPr id="18" name="Inspectable card"/>
          <p:cNvSpPr/>
          <p:nvPr/>
        </p:nvSpPr>
        <p:spPr>
          <a:xfrm>
            <a:off x="548640" y="3538728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19" name="inspect circle"/>
          <p:cNvSpPr/>
          <p:nvPr/>
        </p:nvSpPr>
        <p:spPr>
          <a:xfrm>
            <a:off x="804672" y="381304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nspect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743" y="3966119"/>
            <a:ext cx="260787" cy="26078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Inspectable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04672" y="449884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The Flow Inspector shows every learned step, slot and safety hand-off.</a:t>
            </a:r>
            <a:endParaRPr lang="en-US" sz="1300" dirty="0"/>
          </a:p>
        </p:txBody>
      </p:sp>
      <p:sp>
        <p:nvSpPr>
          <p:cNvPr id="23" name="Never voice-only card"/>
          <p:cNvSpPr/>
          <p:nvPr/>
        </p:nvSpPr>
        <p:spPr>
          <a:xfrm>
            <a:off x="4297680" y="3538728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24" name="access circle"/>
          <p:cNvSpPr/>
          <p:nvPr/>
        </p:nvSpPr>
        <p:spPr>
          <a:xfrm>
            <a:off x="4553712" y="3813048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access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783" y="3966119"/>
            <a:ext cx="260787" cy="26078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Never voice-only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53712" y="449884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Voice-first, but you can speak, tap or type any answer. AA contrast, TalkBack, 48 dp targets, system font size.</a:t>
            </a:r>
            <a:endParaRPr lang="en-US" sz="1300" dirty="0"/>
          </a:p>
        </p:txBody>
      </p:sp>
      <p:sp>
        <p:nvSpPr>
          <p:cNvPr id="28" name="Honest by default card"/>
          <p:cNvSpPr/>
          <p:nvPr/>
        </p:nvSpPr>
        <p:spPr>
          <a:xfrm>
            <a:off x="8046720" y="3538728"/>
            <a:ext cx="352044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rgbClr val="D9D3F0"/>
            </a:solidFill>
            <a:prstDash val="solid"/>
          </a:ln>
          <a:effectLst>
            <a:outerShdw sx="100000" sy="100000" kx="0" ky="0" algn="bl" rotWithShape="0" blurRad="101600" dist="25400" dir="5400000">
              <a:srgbClr val="6D28D9">
                <a:alpha val="12000"/>
              </a:srgbClr>
            </a:outerShdw>
          </a:effectLst>
        </p:spPr>
      </p:sp>
      <p:sp>
        <p:nvSpPr>
          <p:cNvPr id="29" name="book circle"/>
          <p:cNvSpPr/>
          <p:nvPr/>
        </p:nvSpPr>
        <p:spPr>
          <a:xfrm>
            <a:off x="8302752" y="3813048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0" name="book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823" y="3966119"/>
            <a:ext cx="260787" cy="260787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Honest by default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02752" y="449884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Real-phone test log, safety fixtures and a limitations document — not “all passed” claims.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89788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203 JVM unit tests  ·  T1–T14 and B1–B3 run on a real Galaxy S24 FE with Zomato, Amazon, Myntra and YouTube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Checklist: Updated on Public GitHub</a:t>
            </a:r>
            <a:endParaRPr lang="en-US" sz="3200" dirty="0"/>
          </a:p>
        </p:txBody>
      </p:sp>
      <p:sp>
        <p:nvSpPr>
          <p:cNvPr id="3" name="check Working prototype code"/>
          <p:cNvSpPr/>
          <p:nvPr/>
        </p:nvSpPr>
        <p:spPr>
          <a:xfrm>
            <a:off x="548640" y="138074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check icon Working prototype cod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0472"/>
            <a:ext cx="201168" cy="201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3258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Working prototype code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6276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public GitHub repository</a:t>
            </a:r>
            <a:endParaRPr lang="en-US" sz="1200" dirty="0"/>
          </a:p>
        </p:txBody>
      </p:sp>
      <p:sp>
        <p:nvSpPr>
          <p:cNvPr id="7" name="check README"/>
          <p:cNvSpPr/>
          <p:nvPr/>
        </p:nvSpPr>
        <p:spPr>
          <a:xfrm>
            <a:off x="548640" y="211226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check icon READM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22199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20574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README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3591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reproducible setup + judges' quick start</a:t>
            </a:r>
            <a:endParaRPr lang="en-US" sz="1200" dirty="0"/>
          </a:p>
        </p:txBody>
      </p:sp>
      <p:sp>
        <p:nvSpPr>
          <p:cNvPr id="11" name="check Demo video (≤ 5 min)"/>
          <p:cNvSpPr/>
          <p:nvPr/>
        </p:nvSpPr>
        <p:spPr>
          <a:xfrm>
            <a:off x="548640" y="284378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check icon Demo video (≤ 5 min)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2953512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27889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 video (≤ 5 min)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3090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EchoFlow_Demo_v8.mp4 · 4:36, unedited</a:t>
            </a:r>
            <a:endParaRPr lang="en-US" sz="1200" dirty="0"/>
          </a:p>
        </p:txBody>
      </p:sp>
      <p:sp>
        <p:nvSpPr>
          <p:cNvPr id="15" name="check Presentation"/>
          <p:cNvSpPr/>
          <p:nvPr/>
        </p:nvSpPr>
        <p:spPr>
          <a:xfrm>
            <a:off x="548640" y="357530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check icon Presentati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3685032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43000" y="35204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Presentation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143000" y="3822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this deck</a:t>
            </a:r>
            <a:endParaRPr lang="en-US" sz="1200" dirty="0"/>
          </a:p>
        </p:txBody>
      </p:sp>
      <p:sp>
        <p:nvSpPr>
          <p:cNvPr id="19" name="check APK"/>
          <p:cNvSpPr/>
          <p:nvPr/>
        </p:nvSpPr>
        <p:spPr>
          <a:xfrm>
            <a:off x="548640" y="430682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check icon APK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" y="4416552"/>
            <a:ext cx="201168" cy="20116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43000" y="42519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APK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1143000" y="4553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release/EchoFlow.apk · v1.2.3, signed, no keys</a:t>
            </a:r>
            <a:endParaRPr lang="en-US" sz="1200" dirty="0"/>
          </a:p>
        </p:txBody>
      </p:sp>
      <p:sp>
        <p:nvSpPr>
          <p:cNvPr id="23" name="check Architecture"/>
          <p:cNvSpPr/>
          <p:nvPr/>
        </p:nvSpPr>
        <p:spPr>
          <a:xfrm>
            <a:off x="548640" y="503834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check icon Architecture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5148072"/>
            <a:ext cx="201168" cy="201168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143000" y="4983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Architecture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1143000" y="5285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docs/ARCHITECTURE.md (with diagrams)</a:t>
            </a:r>
            <a:endParaRPr lang="en-US" sz="1200" dirty="0"/>
          </a:p>
        </p:txBody>
      </p:sp>
      <p:sp>
        <p:nvSpPr>
          <p:cNvPr id="27" name="check Official test results"/>
          <p:cNvSpPr/>
          <p:nvPr/>
        </p:nvSpPr>
        <p:spPr>
          <a:xfrm>
            <a:off x="6263640" y="138074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8" name="check icon Official test results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73368" y="1490472"/>
            <a:ext cx="201168" cy="20116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858000" y="13258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Official test results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6858000" y="16276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docs/TEST_RUN.md · T1–T14, B1–B3</a:t>
            </a:r>
            <a:endParaRPr lang="en-US" sz="1200" dirty="0"/>
          </a:p>
        </p:txBody>
      </p:sp>
      <p:sp>
        <p:nvSpPr>
          <p:cNvPr id="31" name="check Target apps declaration"/>
          <p:cNvSpPr/>
          <p:nvPr/>
        </p:nvSpPr>
        <p:spPr>
          <a:xfrm>
            <a:off x="6263640" y="211226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2" name="check icon Target apps declaration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73368" y="2221992"/>
            <a:ext cx="201168" cy="20116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20574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Target apps declaration</a:t>
            </a:r>
            <a:endParaRPr lang="en-US" sz="150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23591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docs/ARCHITECTURE.md</a:t>
            </a:r>
            <a:endParaRPr lang="en-US" sz="1200" dirty="0"/>
          </a:p>
        </p:txBody>
      </p:sp>
      <p:sp>
        <p:nvSpPr>
          <p:cNvPr id="35" name="check Known limitations"/>
          <p:cNvSpPr/>
          <p:nvPr/>
        </p:nvSpPr>
        <p:spPr>
          <a:xfrm>
            <a:off x="6263640" y="284378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6" name="check icon Known limitations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73368" y="2953512"/>
            <a:ext cx="201168" cy="201168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858000" y="27889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Known limitations</a:t>
            </a:r>
            <a:endParaRPr lang="en-US" sz="1500" dirty="0"/>
          </a:p>
        </p:txBody>
      </p:sp>
      <p:sp>
        <p:nvSpPr>
          <p:cNvPr id="38" name="Text 27"/>
          <p:cNvSpPr txBox="1"/>
          <p:nvPr/>
        </p:nvSpPr>
        <p:spPr>
          <a:xfrm>
            <a:off x="6858000" y="3090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docs/LIMITATIONS.md</a:t>
            </a:r>
            <a:endParaRPr lang="en-US" sz="1200" dirty="0"/>
          </a:p>
        </p:txBody>
      </p:sp>
      <p:sp>
        <p:nvSpPr>
          <p:cNvPr id="39" name="check Safety validation"/>
          <p:cNvSpPr/>
          <p:nvPr/>
        </p:nvSpPr>
        <p:spPr>
          <a:xfrm>
            <a:off x="6263640" y="357530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0" name="check icon Safety validation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73368" y="3685032"/>
            <a:ext cx="201168" cy="201168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6858000" y="35204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Safety validation</a:t>
            </a:r>
            <a:endParaRPr lang="en-US" sz="1500" dirty="0"/>
          </a:p>
        </p:txBody>
      </p:sp>
      <p:sp>
        <p:nvSpPr>
          <p:cNvPr id="42" name="Text 30"/>
          <p:cNvSpPr txBox="1"/>
          <p:nvPr/>
        </p:nvSpPr>
        <p:spPr>
          <a:xfrm>
            <a:off x="6858000" y="3822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docs/SAFETY_FIXTURES.md</a:t>
            </a:r>
            <a:endParaRPr lang="en-US" sz="1200" dirty="0"/>
          </a:p>
        </p:txBody>
      </p:sp>
      <p:sp>
        <p:nvSpPr>
          <p:cNvPr id="43" name="check Test traceability"/>
          <p:cNvSpPr/>
          <p:nvPr/>
        </p:nvSpPr>
        <p:spPr>
          <a:xfrm>
            <a:off x="6263640" y="430682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4" name="check icon Test traceability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73368" y="4416552"/>
            <a:ext cx="201168" cy="201168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6858000" y="42519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 traceability</a:t>
            </a:r>
            <a:endParaRPr lang="en-US" sz="1500" dirty="0"/>
          </a:p>
        </p:txBody>
      </p:sp>
      <p:sp>
        <p:nvSpPr>
          <p:cNvPr id="46" name="Text 33"/>
          <p:cNvSpPr txBox="1"/>
          <p:nvPr/>
        </p:nvSpPr>
        <p:spPr>
          <a:xfrm>
            <a:off x="6858000" y="4553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docs/TEST_MATRIX.md</a:t>
            </a:r>
            <a:endParaRPr lang="en-US" sz="1200" dirty="0"/>
          </a:p>
        </p:txBody>
      </p:sp>
      <p:sp>
        <p:nvSpPr>
          <p:cNvPr id="47" name="check Research &amp; prior art"/>
          <p:cNvSpPr/>
          <p:nvPr/>
        </p:nvSpPr>
        <p:spPr>
          <a:xfrm>
            <a:off x="6263640" y="5038344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8" name="check icon Research &amp; prior art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73368" y="5148072"/>
            <a:ext cx="201168" cy="20116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6858000" y="4983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Research &amp; prior art</a:t>
            </a:r>
            <a:endParaRPr lang="en-US" sz="1500" dirty="0"/>
          </a:p>
        </p:txBody>
      </p:sp>
      <p:sp>
        <p:nvSpPr>
          <p:cNvPr id="50" name="Text 36"/>
          <p:cNvSpPr txBox="1"/>
          <p:nvPr/>
        </p:nvSpPr>
        <p:spPr>
          <a:xfrm>
            <a:off x="6858000" y="5285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chemeClr val="accent1"/>
                </a:solidFill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docs/RESEARCH.md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SM network art" descr="C:\Users\HARSHA B S\AppData\Local\Temp\claude\C--dev-echoflow-android\da9a8894-237a-4cfe-b4ec-86074de6fbd6\scratchpad\deck2\un\ppt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960120"/>
            <a:ext cx="4480560" cy="44805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19659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003399"/>
                </a:solidFill>
              </a:rPr>
              <a:t>Thank you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2880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EchoFlow — teach once, ask any way, payment stays with you.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github.com/harsha31bs07-blip/echoflow-android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3840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Team Cryzen  ·  Ramaiah Institute of Technology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6172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Organised by the Language AI Team and the PRISM Team, Samsung R&amp;D Institute India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hoFlow PRISM">
  <a:themeElements>
    <a:clrScheme name="EchoFlow PRISM">
      <a:dk1>
        <a:srgbClr val="14142B"/>
      </a:dk1>
      <a:lt1>
        <a:srgbClr val="FFFFFF"/>
      </a:lt1>
      <a:dk2>
        <a:srgbClr val="2E1065"/>
      </a:dk2>
      <a:lt2>
        <a:srgbClr val="F5F3FF"/>
      </a:lt2>
      <a:accent1>
        <a:srgbClr val="6D28D9"/>
      </a:accent1>
      <a:accent2>
        <a:srgbClr val="0F766E"/>
      </a:accent2>
      <a:accent3>
        <a:srgbClr val="C8401F"/>
      </a:accent3>
      <a:accent4>
        <a:srgbClr val="2563EB"/>
      </a:accent4>
      <a:accent5>
        <a:srgbClr val="63637E"/>
      </a:accent5>
      <a:accent6>
        <a:srgbClr val="D9D3F0"/>
      </a:accent6>
      <a:hlink>
        <a:srgbClr val="6D28D9"/>
      </a:hlink>
      <a:folHlink>
        <a:srgbClr val="704EA6"/>
      </a:folHlink>
    </a:clrScheme>
    <a:fontScheme name="EchoFlow PRISM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EchoFlow — Teachable Voice Automation</dc:title>
  <dc:subject>Samsung PRISM Generative AI Hackathon 2026–27, Theme 3</dc:subject>
  <dc:creator>Team Cryzen</dc:creator>
  <cp:lastModifiedBy>Team Cryzen</cp:lastModifiedBy>
  <cp:revision>1</cp:revision>
  <dcterms:created xsi:type="dcterms:W3CDTF">2026-10-06T17:34:54Z</dcterms:created>
  <dcterms:modified xsi:type="dcterms:W3CDTF">2026-10-06T17:34:54Z</dcterms:modified>
</cp:coreProperties>
</file>