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team. One line: EchoFlow learns a phone task from one demonstration and replays it from a voice command, using only Android accessibility, and always stops before payment.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rubric: T1–T14 plus three bonuses. The hardest parts are generalising from one demo and never failing the payment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 stages. Emphasise: the matcher never triggers a replay directly — everything goes through the Decision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that decides — safety, matching, decisions, replay — lives in a JVM module with 100 unit tests, including real Swiggy screen fixtures. The Android layer only captures screens, speaks and taps.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decision here is a pure function with a unit test per row. Thresholds are conservative: a wrong replay costs more than a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T11 is zero-tolerance. The guard is the only door to the device: every action passes the gate, and a watcher checks every screen. The hand-off line is fixed text, never generated.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problems nobody sees in a scripted demo. Each has a device run in docs/TEST_RUN.md.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T3 runs through a confirmation when no LLM key is set; with a free Gemini key it proceeds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30-second bound: the T10 run asked its question 24 seconds after the command, including launching and searching.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SkillDroid (arXiv 2604.14872): compiled skills reach 85% success vs 62% for a stateless LLM agent. Our design replays deterministically and only asks when unsure.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list with mitigations in docs/LIMITATIONS.md (L1–L19).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tagline. Invite the judges to try a command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097280"/>
            <a:ext cx="4572000" cy="4572000"/>
          </a:xfrm>
          <a:prstGeom prst="ellipse">
            <a:avLst/>
          </a:prstGeom>
          <a:solidFill>
            <a:srgbClr val="2A2F57"/>
          </a:solidFill>
          <a:ln w="12700">
            <a:solidFill>
              <a:srgbClr val="2A2F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2651760"/>
            <a:ext cx="2377440" cy="2377440"/>
          </a:xfrm>
          <a:prstGeom prst="ellipse">
            <a:avLst/>
          </a:prstGeom>
          <a:solidFill>
            <a:srgbClr val="FF6B4A">
              <a:alpha val="85000"/>
            </a:srgbClr>
          </a:solidFill>
          <a:ln w="12700">
            <a:solidFill>
              <a:srgbClr val="FF6B4A">
                <a:alpha val="8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EchoFlow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it once. Say it. It's done — and it never pays.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B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PRISM GenAI Hackathon 2026  ·  Theme 3: Teachable Voice Automation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97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[team name]  ·  [member 1] · [member 2] · [member 3] · [member 4]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any app from one demonstration — safely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83080"/>
            <a:ext cx="502920" cy="502920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 live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260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teach a new flow on the spot. No scripts, no app SDKs, no deep links — only Accessibility APIs.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50876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783080"/>
            <a:ext cx="502920" cy="502920"/>
          </a:xfrm>
          <a:prstGeom prst="ellipse">
            <a:avLst/>
          </a:prstGeom>
          <a:solidFill>
            <a:srgbClr val="22B8A7"/>
          </a:solidFill>
          <a:ln w="12700">
            <a:solidFill>
              <a:srgbClr val="22B8A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Generalise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9260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Paraphrases, a different item, quantity or saved address, a second app — from the same single demo.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50876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783080"/>
            <a:ext cx="502920" cy="502920"/>
          </a:xfrm>
          <a:prstGeom prst="ellipse">
            <a:avLst/>
          </a:prstGeom>
          <a:solidFill>
            <a:srgbClr val="E0474C"/>
          </a:solidFill>
          <a:ln w="12700">
            <a:solidFill>
              <a:srgbClr val="E0474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touch money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9260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hand over on every payment, OTP, password or login screen. One slip costs −10.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EchoFlow works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→ compile → match → decide → replay → hand over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64208"/>
            <a:ext cx="384048" cy="384048"/>
          </a:xfrm>
          <a:prstGeom prst="ellipse">
            <a:avLst/>
          </a:prstGeom>
          <a:solidFill>
            <a:srgbClr val="161A33"/>
          </a:solidFill>
          <a:ln w="12700">
            <a:solidFill>
              <a:srgbClr val="161A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48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“teach order garlic bread” — you tap through the app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46120" y="14630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664208"/>
            <a:ext cx="384048" cy="384048"/>
          </a:xfrm>
          <a:prstGeom prst="ellipse">
            <a:avLst/>
          </a:prstGeom>
          <a:solidFill>
            <a:srgbClr val="161A33"/>
          </a:solidFill>
          <a:ln w="12700">
            <a:solidFill>
              <a:srgbClr val="161A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148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stray taps, turns “garlic bread” into {item}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664208"/>
            <a:ext cx="384048" cy="384048"/>
          </a:xfrm>
          <a:prstGeom prst="ellipse">
            <a:avLst/>
          </a:prstGeom>
          <a:solidFill>
            <a:srgbClr val="161A33"/>
          </a:solidFill>
          <a:ln w="12700">
            <a:solidFill>
              <a:srgbClr val="161A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148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→ same shape → paraphrase; never guesses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264408"/>
            <a:ext cx="384048" cy="384048"/>
          </a:xfrm>
          <a:prstGeom prst="ellipse">
            <a:avLst/>
          </a:prstGeom>
          <a:solidFill>
            <a:srgbClr val="161A33"/>
          </a:solidFill>
          <a:ln w="12700">
            <a:solidFill>
              <a:srgbClr val="161A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3246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749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Proceed, confirm, ask which, or offer to teach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246120" y="30632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9000" y="3264408"/>
            <a:ext cx="384048" cy="384048"/>
          </a:xfrm>
          <a:prstGeom prst="ellipse">
            <a:avLst/>
          </a:prstGeom>
          <a:solidFill>
            <a:srgbClr val="161A33"/>
          </a:solidFill>
          <a:ln w="12700">
            <a:solidFill>
              <a:srgbClr val="161A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2900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931920" y="3246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Replay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3429000" y="3749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each element again; recovers from popups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035040" y="30632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E9E3"/>
          </a:solidFill>
          <a:ln w="12700">
            <a:solidFill>
              <a:srgbClr val="FFE9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3264408"/>
            <a:ext cx="384048" cy="384048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1792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720840" y="3246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 over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6217920" y="3749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at checkout: “I won’t pay.”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Pure-Kotlin core (unit-tested) + thin Android layer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2A2F57"/>
          </a:solidFill>
          <a:ln w="12700">
            <a:solidFill>
              <a:srgbClr val="2A2F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bubble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1325880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SpeechRecognizer · TTS · floating Speak / Done / Stop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911096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2A2F57"/>
          </a:solidFill>
          <a:ln w="12700">
            <a:solidFill>
              <a:srgbClr val="2A2F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911096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911096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speech: teach · report · run · answer a question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496312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96312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IntentMatcher → DecisionLayer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49631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with scores → Proceed / Confirm / Disambiguate / Offer to teach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081528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161A33"/>
          </a:solidFill>
          <a:ln w="12700">
            <a:solidFill>
              <a:srgbClr val="161A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081528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ReplayEngine + ElementResolver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3081528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locator · lookahead · search/result/cart recoveries · dialogs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666744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E0474C"/>
          </a:solidFill>
          <a:ln w="12700">
            <a:solidFill>
              <a:srgbClr val="E0474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666744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ActionGateway → SafetyGuard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3666744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way to act. Gate before every tap; watcher on every screen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25196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5B6180"/>
          </a:solidFill>
          <a:ln w="12700">
            <a:solidFill>
              <a:srgbClr val="5B618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25196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AccessibilityService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474720" y="4251960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snapshots · click / text / IME / scroll / gesture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Layer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situation before acting — never match-then-replay blindly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846320"/>
                <a:gridCol w="10972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EchoFlow does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3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score &lt; 0.45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 don’t know how to … yet. Want to teach me?”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flows within 0.15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 know more than one way… Swiggy or Zomato?”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Paraphrase / mid 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“Do you want me to order garlic bread on Swiggy?”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 has other items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“Your cart contains dishes from WeFit… replace them?”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missing / not found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“Which one should I pick? I can see: …”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 · B3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match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Proceed unattended to checkout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· T4–T6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first: it never pays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deterministic, no LLM — and it fails closed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108960" cy="548640"/>
          </a:xfrm>
          <a:prstGeom prst="roundRect">
            <a:avLst>
              <a:gd name="adj" fmla="val 16667"/>
            </a:avLst>
          </a:prstGeom>
          <a:solidFill>
            <a:srgbClr val="22B8A7"/>
          </a:solidFill>
          <a:ln w="12700">
            <a:solidFill>
              <a:srgbClr val="22B8A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1417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normally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3108960" cy="548640"/>
          </a:xfrm>
          <a:prstGeom prst="roundRect">
            <a:avLst>
              <a:gd name="adj" fmla="val 16667"/>
            </a:avLst>
          </a:prstGeom>
          <a:solidFill>
            <a:srgbClr val="F4B63F"/>
          </a:solidFill>
          <a:ln w="12700">
            <a:solidFill>
              <a:srgbClr val="F4B6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1488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2148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taught steps; pay button never tapped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3108960" cy="548640"/>
          </a:xfrm>
          <a:prstGeom prst="roundRect">
            <a:avLst>
              <a:gd name="adj" fmla="val 16667"/>
            </a:avLst>
          </a:prstGeom>
          <a:solidFill>
            <a:srgbClr val="E0474C"/>
          </a:solidFill>
          <a:ln w="12700">
            <a:solidFill>
              <a:srgbClr val="E0474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8803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· OTP · PASSWORD · LOGIN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2880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hand over at once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3108960" cy="548640"/>
          </a:xfrm>
          <a:prstGeom prst="roundRect">
            <a:avLst>
              <a:gd name="adj" fmla="val 16667"/>
            </a:avLst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6118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UNREADABLE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3611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to act; wait, then stop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13716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80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2560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placed or pay buttons tapped across every device run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4747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BA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real Swiggy screens (cart = CHECKOUT, Payment Options = PAYMENT). Typed text, card digits and addresses are redacted from every dump.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real apps, not demos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fix below came from driving Swiggy, Amazon and Zomato on a Galaxy S24 FE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22B8A7"/>
          </a:solidFill>
          <a:ln w="12700">
            <a:solidFill>
              <a:srgbClr val="22B8A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4813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hide their UI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80136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exposed 0 readable nodes until we declared a voice accessibility tool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645920"/>
            <a:ext cx="384048" cy="384048"/>
          </a:xfrm>
          <a:prstGeom prst="ellipse">
            <a:avLst/>
          </a:prstGeom>
          <a:solidFill>
            <a:srgbClr val="22B8A7"/>
          </a:solidFill>
          <a:ln w="12700">
            <a:solidFill>
              <a:srgbClr val="22B8A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14813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Taps never reported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180136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Swiggy’s cart bar, Amazon search — recovered by open-search / open-result / open-cart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743200"/>
            <a:ext cx="384048" cy="384048"/>
          </a:xfrm>
          <a:prstGeom prst="ellipse">
            <a:avLst/>
          </a:prstGeom>
          <a:solidFill>
            <a:srgbClr val="22B8A7"/>
          </a:solidFill>
          <a:ln w="12700">
            <a:solidFill>
              <a:srgbClr val="22B8A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257860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loading frames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89864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to act, wait up to 6 s, only then stop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246888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743200"/>
            <a:ext cx="384048" cy="384048"/>
          </a:xfrm>
          <a:prstGeom prst="ellipse">
            <a:avLst/>
          </a:prstGeom>
          <a:solidFill>
            <a:srgbClr val="22B8A7"/>
          </a:solidFill>
          <a:ln w="12700">
            <a:solidFill>
              <a:srgbClr val="22B8A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257860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that tick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289864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Timers re-render every second → actions carried to the identical element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356616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840480"/>
            <a:ext cx="384048" cy="384048"/>
          </a:xfrm>
          <a:prstGeom prst="ellipse">
            <a:avLst/>
          </a:prstGeom>
          <a:solidFill>
            <a:srgbClr val="22B8A7"/>
          </a:solidFill>
          <a:ln w="12700">
            <a:solidFill>
              <a:srgbClr val="22B8A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367588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Item-specific sheets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399592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“Paneer tikka has extra options. Add with defaults for ₹511?”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663440" y="356616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3840480"/>
            <a:ext cx="384048" cy="384048"/>
          </a:xfrm>
          <a:prstGeom prst="ellipse">
            <a:avLst/>
          </a:prstGeom>
          <a:solidFill>
            <a:srgbClr val="22B8A7"/>
          </a:solidFill>
          <a:ln w="12700">
            <a:solidFill>
              <a:srgbClr val="22B8A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4632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394960" y="367588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that refuse clicks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394960" y="399592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gesture on the same gate-approved element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Rubric results on a real phone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T1–T14 all exercised end-to-end on device — see docs/TEST_RUN.md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517904" cy="896112"/>
          </a:xfrm>
          <a:prstGeom prst="roundRect">
            <a:avLst>
              <a:gd name="adj" fmla="val 12245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44475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44475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2B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745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+ inspect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21408" y="1371600"/>
            <a:ext cx="1517904" cy="896112"/>
          </a:xfrm>
          <a:prstGeom prst="roundRect">
            <a:avLst>
              <a:gd name="adj" fmla="val 12245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31136" y="144475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172968" y="144475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2B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231136" y="18745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replay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85616" y="1371600"/>
            <a:ext cx="1517904" cy="896112"/>
          </a:xfrm>
          <a:prstGeom prst="roundRect">
            <a:avLst>
              <a:gd name="adj" fmla="val 12245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95344" y="144475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837176" y="144475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2B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895344" y="18745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Paraphrase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49824" y="1371600"/>
            <a:ext cx="1517904" cy="896112"/>
          </a:xfrm>
          <a:prstGeom prst="roundRect">
            <a:avLst>
              <a:gd name="adj" fmla="val 12245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59552" y="144475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01384" y="144475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2B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559552" y="18745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item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14032" y="1371600"/>
            <a:ext cx="1517904" cy="896112"/>
          </a:xfrm>
          <a:prstGeom prst="roundRect">
            <a:avLst>
              <a:gd name="adj" fmla="val 12245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23760" y="144475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165592" y="144475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2B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18745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2423160"/>
            <a:ext cx="1517904" cy="896112"/>
          </a:xfrm>
          <a:prstGeom prst="roundRect">
            <a:avLst>
              <a:gd name="adj" fmla="val 12245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24963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T6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508760" y="249631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2B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29260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address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121408" y="2423160"/>
            <a:ext cx="1517904" cy="896112"/>
          </a:xfrm>
          <a:prstGeom prst="roundRect">
            <a:avLst>
              <a:gd name="adj" fmla="val 12245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231136" y="24963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T7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3172968" y="249631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2B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2231136" y="29260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/ popup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785616" y="2423160"/>
            <a:ext cx="1517904" cy="896112"/>
          </a:xfrm>
          <a:prstGeom prst="roundRect">
            <a:avLst>
              <a:gd name="adj" fmla="val 12245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895344" y="24963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T8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4837176" y="249631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2B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3895344" y="29260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app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49824" y="2423160"/>
            <a:ext cx="1517904" cy="896112"/>
          </a:xfrm>
          <a:prstGeom prst="roundRect">
            <a:avLst>
              <a:gd name="adj" fmla="val 12245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559552" y="24963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T9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6501384" y="249631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2B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5559552" y="29260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term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114032" y="2423160"/>
            <a:ext cx="1517904" cy="896112"/>
          </a:xfrm>
          <a:prstGeom prst="roundRect">
            <a:avLst>
              <a:gd name="adj" fmla="val 12245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223760" y="24963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T10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8165592" y="249631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2B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43" name="Text 41"/>
          <p:cNvSpPr txBox="1"/>
          <p:nvPr/>
        </p:nvSpPr>
        <p:spPr>
          <a:xfrm>
            <a:off x="7223760" y="29260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→ asks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" y="3474720"/>
            <a:ext cx="1517904" cy="896112"/>
          </a:xfrm>
          <a:prstGeom prst="roundRect">
            <a:avLst>
              <a:gd name="adj" fmla="val 12245"/>
            </a:avLst>
          </a:prstGeom>
          <a:solidFill>
            <a:srgbClr val="FFE9E3"/>
          </a:solidFill>
          <a:ln w="12700">
            <a:solidFill>
              <a:srgbClr val="FFE9E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66928" y="354787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47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T11</a:t>
            </a:r>
            <a:endParaRPr lang="en-US" sz="2000" dirty="0"/>
          </a:p>
        </p:txBody>
      </p:sp>
      <p:sp>
        <p:nvSpPr>
          <p:cNvPr id="46" name="Text 44"/>
          <p:cNvSpPr txBox="1"/>
          <p:nvPr/>
        </p:nvSpPr>
        <p:spPr>
          <a:xfrm>
            <a:off x="1508760" y="35478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2B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47" name="Text 45"/>
          <p:cNvSpPr txBox="1"/>
          <p:nvPr/>
        </p:nvSpPr>
        <p:spPr>
          <a:xfrm>
            <a:off x="566928" y="39776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pays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121408" y="3474720"/>
            <a:ext cx="1517904" cy="896112"/>
          </a:xfrm>
          <a:prstGeom prst="roundRect">
            <a:avLst>
              <a:gd name="adj" fmla="val 12245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231136" y="354787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T12</a:t>
            </a:r>
            <a:endParaRPr lang="en-US" sz="2000" dirty="0"/>
          </a:p>
        </p:txBody>
      </p:sp>
      <p:sp>
        <p:nvSpPr>
          <p:cNvPr id="50" name="Text 48"/>
          <p:cNvSpPr txBox="1"/>
          <p:nvPr/>
        </p:nvSpPr>
        <p:spPr>
          <a:xfrm>
            <a:off x="3172968" y="35478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2B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51" name="Text 49"/>
          <p:cNvSpPr txBox="1"/>
          <p:nvPr/>
        </p:nvSpPr>
        <p:spPr>
          <a:xfrm>
            <a:off x="2231136" y="39776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785616" y="3474720"/>
            <a:ext cx="1517904" cy="896112"/>
          </a:xfrm>
          <a:prstGeom prst="roundRect">
            <a:avLst>
              <a:gd name="adj" fmla="val 12245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895344" y="354787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T13</a:t>
            </a:r>
            <a:endParaRPr lang="en-US" sz="2000" dirty="0"/>
          </a:p>
        </p:txBody>
      </p:sp>
      <p:sp>
        <p:nvSpPr>
          <p:cNvPr id="54" name="Text 52"/>
          <p:cNvSpPr txBox="1"/>
          <p:nvPr/>
        </p:nvSpPr>
        <p:spPr>
          <a:xfrm>
            <a:off x="4837176" y="35478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2B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55" name="Text 53"/>
          <p:cNvSpPr txBox="1"/>
          <p:nvPr/>
        </p:nvSpPr>
        <p:spPr>
          <a:xfrm>
            <a:off x="3895344" y="39776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449824" y="3474720"/>
            <a:ext cx="1517904" cy="896112"/>
          </a:xfrm>
          <a:prstGeom prst="roundRect">
            <a:avLst>
              <a:gd name="adj" fmla="val 12245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559552" y="354787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T14</a:t>
            </a:r>
            <a:endParaRPr lang="en-US" sz="2000" dirty="0"/>
          </a:p>
        </p:txBody>
      </p:sp>
      <p:sp>
        <p:nvSpPr>
          <p:cNvPr id="58" name="Text 56"/>
          <p:cNvSpPr txBox="1"/>
          <p:nvPr/>
        </p:nvSpPr>
        <p:spPr>
          <a:xfrm>
            <a:off x="6501384" y="35478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2B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59" name="Text 57"/>
          <p:cNvSpPr txBox="1"/>
          <p:nvPr/>
        </p:nvSpPr>
        <p:spPr>
          <a:xfrm>
            <a:off x="5559552" y="39776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run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114032" y="3474720"/>
            <a:ext cx="1517904" cy="896112"/>
          </a:xfrm>
          <a:prstGeom prst="roundRect">
            <a:avLst>
              <a:gd name="adj" fmla="val 12245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223760" y="354787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B3</a:t>
            </a:r>
            <a:endParaRPr lang="en-US" sz="2000" dirty="0"/>
          </a:p>
        </p:txBody>
      </p:sp>
      <p:sp>
        <p:nvSpPr>
          <p:cNvPr id="62" name="Text 60"/>
          <p:cNvSpPr txBox="1"/>
          <p:nvPr/>
        </p:nvSpPr>
        <p:spPr>
          <a:xfrm>
            <a:off x="8165592" y="35478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2B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63" name="Text 61"/>
          <p:cNvSpPr txBox="1"/>
          <p:nvPr/>
        </p:nvSpPr>
        <p:spPr>
          <a:xfrm>
            <a:off x="7223760" y="39776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mid-flow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numbers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1920240" cy="2651760"/>
          </a:xfrm>
          <a:prstGeom prst="roundRect">
            <a:avLst>
              <a:gd name="adj" fmla="val 5714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91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/ 14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974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tests run on device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1417320"/>
            <a:ext cx="1920240" cy="2651760"/>
          </a:xfrm>
          <a:prstGeom prst="roundRect">
            <a:avLst>
              <a:gd name="adj" fmla="val 5714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51760" y="1691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6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26974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 unit tests, incl. real screen fixtures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1920240" cy="2651760"/>
          </a:xfrm>
          <a:prstGeom prst="roundRect">
            <a:avLst>
              <a:gd name="adj" fmla="val 5714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691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B8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6974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apps: Swiggy, Amazon, Zomato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0" y="1417320"/>
            <a:ext cx="1920240" cy="2651760"/>
          </a:xfrm>
          <a:prstGeom prst="roundRect">
            <a:avLst>
              <a:gd name="adj" fmla="val 5714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0" y="1691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B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30 s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6974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clear question when stuck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in research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Replay-first, LLM-optional — like SkillDroid (2026) and SUGILITE (CHI 2017)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6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adopted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element locator (id, text, description, class, parent, row context)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cascade: exact → template → similarity → optional LLM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handling: wait, dismiss, look ahead, ask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 skills replayed without LLM calls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37160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FFF4E8"/>
          </a:solidFill>
          <a:ln w="12700">
            <a:solidFill>
              <a:srgbClr val="FFF4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55448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6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sets EchoFlow apart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validated on real payment screens, with a CHECKOUT verdict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 — no API key required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apps that hide their UI, and shows why (diagnostics)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 document, not “all passed” claims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we know — and what’s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pickers (Amazon apparel) aren’t automated — we ask instead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with secure pickers (Swiggy’s cart address sheet) — we use the readable one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Cross-app bonus (Amazon flow on Myntra) not attempted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Paraphrases confirm first without an LLM key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73736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Gemini Nano for private paraphrase + slot extraction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decision models (e.g. Jev) for fast, calibrated matching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fallback for unreadable screens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apps validated with the safety monitor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2377440"/>
            <a:ext cx="3840480" cy="3840480"/>
          </a:xfrm>
          <a:prstGeom prst="ellipse">
            <a:avLst/>
          </a:prstGeom>
          <a:solidFill>
            <a:srgbClr val="2A2F57"/>
          </a:solidFill>
          <a:ln w="12700">
            <a:solidFill>
              <a:srgbClr val="2A2F5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801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 once. Say it. Done.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it never pays.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video: [link]   ·   Code: github.com/harsha31bs07-blip/echoflow-android   ·   APK: release/EchoFlow.apk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4B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EchoFlow — Teachable Voice Automation</dc:title>
  <dc:subject>PptxGenJS Presentation</dc:subject>
  <dc:creator>PptxGenJS</dc:creator>
  <cp:lastModifiedBy>PptxGenJS</cp:lastModifiedBy>
  <cp:revision>1</cp:revision>
  <dcterms:created xsi:type="dcterms:W3CDTF">2026-09-28T20:12:31Z</dcterms:created>
  <dcterms:modified xsi:type="dcterms:W3CDTF">2026-09-28T20:12:31Z</dcterms:modified>
</cp:coreProperties>
</file>